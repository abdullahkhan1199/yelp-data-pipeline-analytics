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1" Type="http://schemas.openxmlformats.org/officeDocument/2006/relationships/font" Target="fonts/RobotoMon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4aeac06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4aeac06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4bc820df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4bc820df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54aeac06f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54aeac06f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4c5a7363b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4c5a7363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4c5a7363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4c5a7363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4c5a7363b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4c5a7363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4c9cc2c2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4c9cc2c2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4e6d693b0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4e6d693b0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4aeac06f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4aeac06f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54aeac06f4_4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54aeac06f4_4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4aeac06f4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54aeac06f4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4aeac06f4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4aeac06f4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4aeac06f4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4aeac06f4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54aeac06f4_4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54aeac06f4_4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54e6d693b0_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54e6d693b0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4aeac06f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4aeac06f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54e6d693b0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54e6d693b0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54e6d693b0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54e6d693b0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4e6d693b0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54e6d693b0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4e6d693b0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4e6d693b0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4e6d693b0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54e6d693b0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54e6d693b0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54e6d693b0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54aeac06f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54aeac06f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54aeac06f4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54aeac06f4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54aeac06f4_5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54aeac06f4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4aeac06f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54aeac06f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4e6d693b0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4e6d693b0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6.jpg"/><Relationship Id="rId5" Type="http://schemas.openxmlformats.org/officeDocument/2006/relationships/image" Target="../media/image3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BADM 554 - Project Presentation</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Group 9 - Abdullah Khan, Amelia Knight, Wade Herrera, and Yujing Wang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389550"/>
            <a:ext cx="8222100" cy="1116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Project 1 – Data-Driven Restaurant Planning        Using Yelp</a:t>
            </a:r>
            <a:endParaRPr/>
          </a:p>
        </p:txBody>
      </p:sp>
      <p:sp>
        <p:nvSpPr>
          <p:cNvPr id="74" name="Google Shape;74;p14"/>
          <p:cNvSpPr txBox="1"/>
          <p:nvPr>
            <p:ph idx="1" type="body"/>
          </p:nvPr>
        </p:nvSpPr>
        <p:spPr>
          <a:xfrm>
            <a:off x="471900" y="2571750"/>
            <a:ext cx="8222100" cy="20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i="1" lang="en" sz="1400">
                <a:solidFill>
                  <a:srgbClr val="000000"/>
                </a:solidFill>
                <a:latin typeface="Arial"/>
                <a:ea typeface="Arial"/>
                <a:cs typeface="Arial"/>
                <a:sym typeface="Arial"/>
              </a:rPr>
            </a:br>
            <a:r>
              <a:rPr lang="en" sz="1400">
                <a:solidFill>
                  <a:srgbClr val="000000"/>
                </a:solidFill>
                <a:latin typeface="Arial"/>
                <a:ea typeface="Arial"/>
                <a:cs typeface="Arial"/>
                <a:sym typeface="Arial"/>
              </a:rPr>
              <a:t>Our goal was to use Yelp data to identify optimal strategies for launching a new restaurant.</a:t>
            </a:r>
            <a:endParaRPr sz="1400">
              <a:solidFill>
                <a:srgbClr val="000000"/>
              </a:solidFill>
              <a:latin typeface="Arial"/>
              <a:ea typeface="Arial"/>
              <a:cs typeface="Arial"/>
              <a:sym typeface="Arial"/>
            </a:endParaRPr>
          </a:p>
          <a:p>
            <a:pPr indent="0" lvl="0" marL="0" rtl="0" algn="l">
              <a:spcBef>
                <a:spcPts val="1200"/>
              </a:spcBef>
              <a:spcAft>
                <a:spcPts val="0"/>
              </a:spcAft>
              <a:buNone/>
            </a:pPr>
            <a:r>
              <a:rPr lang="en" sz="1400">
                <a:solidFill>
                  <a:srgbClr val="000000"/>
                </a:solidFill>
                <a:latin typeface="Arial"/>
                <a:ea typeface="Arial"/>
                <a:cs typeface="Arial"/>
                <a:sym typeface="Arial"/>
              </a:rPr>
              <a:t>By writing SQL queries on a structured version of the Yelp dataset, we explored customer behavior, competitive hotspots, pricing patterns, and service preferences — all to make </a:t>
            </a:r>
            <a:r>
              <a:rPr b="1" lang="en" sz="1400">
                <a:solidFill>
                  <a:srgbClr val="000000"/>
                </a:solidFill>
                <a:latin typeface="Arial"/>
                <a:ea typeface="Arial"/>
                <a:cs typeface="Arial"/>
                <a:sym typeface="Arial"/>
              </a:rPr>
              <a:t>data-driven business decisions</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i="1" sz="1400">
              <a:solidFill>
                <a:srgbClr val="000000"/>
              </a:solidFill>
              <a:latin typeface="Arial"/>
              <a:ea typeface="Arial"/>
              <a:cs typeface="Arial"/>
              <a:sym typeface="Arial"/>
            </a:endParaRPr>
          </a:p>
        </p:txBody>
      </p:sp>
      <p:sp>
        <p:nvSpPr>
          <p:cNvPr id="75" name="Google Shape;75;p14"/>
          <p:cNvSpPr txBox="1"/>
          <p:nvPr/>
        </p:nvSpPr>
        <p:spPr>
          <a:xfrm>
            <a:off x="3073675" y="1898600"/>
            <a:ext cx="2183400" cy="55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i="1" lang="en" sz="1700" u="sng"/>
              <a:t>Yelp Data Analysis</a:t>
            </a:r>
            <a:endParaRPr sz="2400" u="sng">
              <a:solidFill>
                <a:schemeClr val="lt2"/>
              </a:solidFill>
              <a:latin typeface="Roboto"/>
              <a:ea typeface="Roboto"/>
              <a:cs typeface="Roboto"/>
              <a:sym typeface="Roboto"/>
            </a:endParaRPr>
          </a:p>
        </p:txBody>
      </p:sp>
      <p:pic>
        <p:nvPicPr>
          <p:cNvPr id="76" name="Google Shape;76;p14" title="Data analysis.jpg"/>
          <p:cNvPicPr preferRelativeResize="0"/>
          <p:nvPr/>
        </p:nvPicPr>
        <p:blipFill>
          <a:blip r:embed="rId3">
            <a:alphaModFix/>
          </a:blip>
          <a:stretch>
            <a:fillRect/>
          </a:stretch>
        </p:blipFill>
        <p:spPr>
          <a:xfrm>
            <a:off x="5257075" y="1743150"/>
            <a:ext cx="1272200" cy="867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Choosing the Right City – Why Nashville?</a:t>
            </a:r>
            <a:endParaRPr/>
          </a:p>
        </p:txBody>
      </p:sp>
      <p:sp>
        <p:nvSpPr>
          <p:cNvPr id="82" name="Google Shape;82;p15"/>
          <p:cNvSpPr txBox="1"/>
          <p:nvPr>
            <p:ph idx="1" type="body"/>
          </p:nvPr>
        </p:nvSpPr>
        <p:spPr>
          <a:xfrm>
            <a:off x="237600" y="1883075"/>
            <a:ext cx="4377300" cy="1845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4460">
                <a:solidFill>
                  <a:srgbClr val="000000"/>
                </a:solidFill>
                <a:latin typeface="Arial"/>
                <a:ea typeface="Arial"/>
                <a:cs typeface="Arial"/>
                <a:sym typeface="Arial"/>
              </a:rPr>
              <a:t>We analyzed cities with the highest number of restaurants on Yelp</a:t>
            </a:r>
            <a:br>
              <a:rPr lang="en" sz="4460">
                <a:solidFill>
                  <a:srgbClr val="000000"/>
                </a:solidFill>
                <a:latin typeface="Arial"/>
                <a:ea typeface="Arial"/>
                <a:cs typeface="Arial"/>
                <a:sym typeface="Arial"/>
              </a:rPr>
            </a:br>
            <a:endParaRPr sz="4460">
              <a:solidFill>
                <a:srgbClr val="000000"/>
              </a:solidFill>
              <a:latin typeface="Arial"/>
              <a:ea typeface="Arial"/>
              <a:cs typeface="Arial"/>
              <a:sym typeface="Arial"/>
            </a:endParaRPr>
          </a:p>
          <a:p>
            <a:pPr indent="0" lvl="0" marL="0" rtl="0" algn="l">
              <a:spcBef>
                <a:spcPts val="1200"/>
              </a:spcBef>
              <a:spcAft>
                <a:spcPts val="0"/>
              </a:spcAft>
              <a:buNone/>
            </a:pPr>
            <a:r>
              <a:rPr b="1" lang="en" sz="4460">
                <a:solidFill>
                  <a:srgbClr val="000000"/>
                </a:solidFill>
                <a:latin typeface="Arial"/>
                <a:ea typeface="Arial"/>
                <a:cs typeface="Arial"/>
                <a:sym typeface="Arial"/>
              </a:rPr>
              <a:t>Nashville ranked in the top 5</a:t>
            </a:r>
            <a:r>
              <a:rPr lang="en" sz="4460">
                <a:solidFill>
                  <a:srgbClr val="000000"/>
                </a:solidFill>
                <a:latin typeface="Arial"/>
                <a:ea typeface="Arial"/>
                <a:cs typeface="Arial"/>
                <a:sym typeface="Arial"/>
              </a:rPr>
              <a:t> — indicating a strong, active food scene</a:t>
            </a:r>
            <a:br>
              <a:rPr lang="en" sz="4460">
                <a:solidFill>
                  <a:srgbClr val="000000"/>
                </a:solidFill>
                <a:latin typeface="Arial"/>
                <a:ea typeface="Arial"/>
                <a:cs typeface="Arial"/>
                <a:sym typeface="Arial"/>
              </a:rPr>
            </a:br>
            <a:endParaRPr sz="4460">
              <a:solidFill>
                <a:srgbClr val="000000"/>
              </a:solidFill>
              <a:latin typeface="Arial"/>
              <a:ea typeface="Arial"/>
              <a:cs typeface="Arial"/>
              <a:sym typeface="Arial"/>
            </a:endParaRPr>
          </a:p>
          <a:p>
            <a:pPr indent="0" lvl="0" marL="0" rtl="0" algn="l">
              <a:spcBef>
                <a:spcPts val="1200"/>
              </a:spcBef>
              <a:spcAft>
                <a:spcPts val="0"/>
              </a:spcAft>
              <a:buNone/>
            </a:pPr>
            <a:r>
              <a:rPr lang="en" sz="4460">
                <a:solidFill>
                  <a:srgbClr val="000000"/>
                </a:solidFill>
                <a:latin typeface="Arial"/>
                <a:ea typeface="Arial"/>
                <a:cs typeface="Arial"/>
                <a:sym typeface="Arial"/>
              </a:rPr>
              <a:t>High restaurant count = </a:t>
            </a:r>
            <a:r>
              <a:rPr b="1" lang="en" sz="4460">
                <a:solidFill>
                  <a:srgbClr val="000000"/>
                </a:solidFill>
                <a:latin typeface="Arial"/>
                <a:ea typeface="Arial"/>
                <a:cs typeface="Arial"/>
                <a:sym typeface="Arial"/>
              </a:rPr>
              <a:t>competitive</a:t>
            </a:r>
            <a:r>
              <a:rPr lang="en" sz="4460">
                <a:solidFill>
                  <a:srgbClr val="000000"/>
                </a:solidFill>
                <a:latin typeface="Arial"/>
                <a:ea typeface="Arial"/>
                <a:cs typeface="Arial"/>
                <a:sym typeface="Arial"/>
              </a:rPr>
              <a:t>, but also full of </a:t>
            </a:r>
            <a:r>
              <a:rPr b="1" lang="en" sz="4460">
                <a:solidFill>
                  <a:srgbClr val="000000"/>
                </a:solidFill>
                <a:latin typeface="Arial"/>
                <a:ea typeface="Arial"/>
                <a:cs typeface="Arial"/>
                <a:sym typeface="Arial"/>
              </a:rPr>
              <a:t>opportunity</a:t>
            </a:r>
            <a:br>
              <a:rPr b="1" lang="en" sz="4060">
                <a:solidFill>
                  <a:srgbClr val="000000"/>
                </a:solidFill>
                <a:latin typeface="Arial"/>
                <a:ea typeface="Arial"/>
                <a:cs typeface="Arial"/>
                <a:sym typeface="Arial"/>
              </a:rPr>
            </a:br>
            <a:endParaRPr b="1" sz="4060">
              <a:solidFill>
                <a:srgbClr val="000000"/>
              </a:solidFill>
              <a:latin typeface="Arial"/>
              <a:ea typeface="Arial"/>
              <a:cs typeface="Arial"/>
              <a:sym typeface="Arial"/>
            </a:endParaRPr>
          </a:p>
          <a:p>
            <a:pPr indent="0" lvl="0" marL="0" rtl="0" algn="l">
              <a:spcBef>
                <a:spcPts val="1200"/>
              </a:spcBef>
              <a:spcAft>
                <a:spcPts val="0"/>
              </a:spcAft>
              <a:buNone/>
            </a:pPr>
            <a:r>
              <a:t/>
            </a:r>
            <a:endParaRPr sz="4060">
              <a:solidFill>
                <a:srgbClr val="000000"/>
              </a:solidFill>
              <a:latin typeface="Arial"/>
              <a:ea typeface="Arial"/>
              <a:cs typeface="Arial"/>
              <a:sym typeface="Arial"/>
            </a:endParaRPr>
          </a:p>
          <a:p>
            <a:pPr indent="0" lvl="0" marL="0" rtl="0" algn="l">
              <a:spcBef>
                <a:spcPts val="1200"/>
              </a:spcBef>
              <a:spcAft>
                <a:spcPts val="1200"/>
              </a:spcAft>
              <a:buNone/>
            </a:pPr>
            <a:r>
              <a:t/>
            </a:r>
            <a:endParaRPr sz="1100"/>
          </a:p>
        </p:txBody>
      </p:sp>
      <p:pic>
        <p:nvPicPr>
          <p:cNvPr id="83" name="Google Shape;83;p15" title="Nashville_new.jpg"/>
          <p:cNvPicPr preferRelativeResize="0"/>
          <p:nvPr/>
        </p:nvPicPr>
        <p:blipFill>
          <a:blip r:embed="rId3">
            <a:alphaModFix/>
          </a:blip>
          <a:stretch>
            <a:fillRect/>
          </a:stretch>
        </p:blipFill>
        <p:spPr>
          <a:xfrm>
            <a:off x="4935875" y="1737800"/>
            <a:ext cx="4012851" cy="2183501"/>
          </a:xfrm>
          <a:prstGeom prst="rect">
            <a:avLst/>
          </a:prstGeom>
          <a:noFill/>
          <a:ln>
            <a:noFill/>
          </a:ln>
        </p:spPr>
      </p:pic>
      <p:pic>
        <p:nvPicPr>
          <p:cNvPr id="84" name="Google Shape;84;p15" title="Top 5 cities.png"/>
          <p:cNvPicPr preferRelativeResize="0"/>
          <p:nvPr/>
        </p:nvPicPr>
        <p:blipFill>
          <a:blip r:embed="rId4">
            <a:alphaModFix/>
          </a:blip>
          <a:stretch>
            <a:fillRect/>
          </a:stretch>
        </p:blipFill>
        <p:spPr>
          <a:xfrm>
            <a:off x="385275" y="3857100"/>
            <a:ext cx="2001325" cy="1070225"/>
          </a:xfrm>
          <a:prstGeom prst="rect">
            <a:avLst/>
          </a:prstGeom>
          <a:noFill/>
          <a:ln>
            <a:noFill/>
          </a:ln>
        </p:spPr>
      </p:pic>
      <p:sp>
        <p:nvSpPr>
          <p:cNvPr id="85" name="Google Shape;85;p15"/>
          <p:cNvSpPr txBox="1"/>
          <p:nvPr/>
        </p:nvSpPr>
        <p:spPr>
          <a:xfrm>
            <a:off x="3403325" y="4306575"/>
            <a:ext cx="5222700" cy="62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100"/>
              <a:t>Its blend of </a:t>
            </a:r>
            <a:r>
              <a:rPr b="1" lang="en" sz="1100"/>
              <a:t>southern charm</a:t>
            </a:r>
            <a:r>
              <a:rPr lang="en" sz="1100"/>
              <a:t> and a rising dining culture made it ideal for deeper analysis</a:t>
            </a:r>
            <a:endParaRPr sz="11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Targeting the Right Area &amp; Time</a:t>
            </a:r>
            <a:endParaRPr/>
          </a:p>
        </p:txBody>
      </p:sp>
      <p:sp>
        <p:nvSpPr>
          <p:cNvPr id="91" name="Google Shape;91;p16"/>
          <p:cNvSpPr txBox="1"/>
          <p:nvPr>
            <p:ph idx="1" type="body"/>
          </p:nvPr>
        </p:nvSpPr>
        <p:spPr>
          <a:xfrm>
            <a:off x="471900" y="1768400"/>
            <a:ext cx="3519000" cy="3156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en" sz="1100">
                <a:solidFill>
                  <a:srgbClr val="000000"/>
                </a:solidFill>
                <a:latin typeface="Arial"/>
                <a:ea typeface="Arial"/>
                <a:cs typeface="Arial"/>
                <a:sym typeface="Arial"/>
              </a:rPr>
              <a:t>🕒 </a:t>
            </a:r>
            <a:r>
              <a:rPr b="1" lang="en" sz="1100" u="sng">
                <a:solidFill>
                  <a:srgbClr val="000000"/>
                </a:solidFill>
                <a:latin typeface="Arial"/>
                <a:ea typeface="Arial"/>
                <a:cs typeface="Arial"/>
                <a:sym typeface="Arial"/>
              </a:rPr>
              <a:t>Customer Traffic Patterns by Hour</a:t>
            </a:r>
            <a:endParaRPr b="1" sz="1017" u="sng">
              <a:solidFill>
                <a:srgbClr val="000000"/>
              </a:solidFill>
              <a:latin typeface="Arial"/>
              <a:ea typeface="Arial"/>
              <a:cs typeface="Arial"/>
              <a:sym typeface="Arial"/>
            </a:endParaRPr>
          </a:p>
          <a:p>
            <a:pPr indent="0" lvl="0" marL="0" rtl="0" algn="l">
              <a:lnSpc>
                <a:spcPct val="95000"/>
              </a:lnSpc>
              <a:spcBef>
                <a:spcPts val="1200"/>
              </a:spcBef>
              <a:spcAft>
                <a:spcPts val="0"/>
              </a:spcAft>
              <a:buSzPts val="1018"/>
              <a:buNone/>
            </a:pPr>
            <a:r>
              <a:rPr b="1" lang="en" sz="1017">
                <a:solidFill>
                  <a:srgbClr val="000000"/>
                </a:solidFill>
                <a:latin typeface="Arial"/>
                <a:ea typeface="Arial"/>
                <a:cs typeface="Arial"/>
                <a:sym typeface="Arial"/>
              </a:rPr>
              <a:t>🧠 Insight:</a:t>
            </a:r>
            <a:endParaRPr b="1" sz="1017">
              <a:solidFill>
                <a:srgbClr val="000000"/>
              </a:solidFill>
              <a:latin typeface="Arial"/>
              <a:ea typeface="Arial"/>
              <a:cs typeface="Arial"/>
              <a:sym typeface="Arial"/>
            </a:endParaRPr>
          </a:p>
          <a:p>
            <a:pPr indent="-293211" lvl="0" marL="457200" rtl="0" algn="l">
              <a:lnSpc>
                <a:spcPct val="95000"/>
              </a:lnSpc>
              <a:spcBef>
                <a:spcPts val="1200"/>
              </a:spcBef>
              <a:spcAft>
                <a:spcPts val="0"/>
              </a:spcAft>
              <a:buClr>
                <a:srgbClr val="000000"/>
              </a:buClr>
              <a:buSzPts val="1018"/>
              <a:buFont typeface="Arial"/>
              <a:buChar char="●"/>
            </a:pPr>
            <a:r>
              <a:rPr lang="en" sz="1017">
                <a:solidFill>
                  <a:srgbClr val="000000"/>
                </a:solidFill>
                <a:latin typeface="Arial"/>
                <a:ea typeface="Arial"/>
                <a:cs typeface="Arial"/>
                <a:sym typeface="Arial"/>
              </a:rPr>
              <a:t>We found that the busiest check-in times in Nashville occur around midnight, 11 PM, and during traditional dinner hours (5–7 PM).</a:t>
            </a:r>
            <a:endParaRPr sz="1017">
              <a:solidFill>
                <a:srgbClr val="000000"/>
              </a:solidFill>
              <a:latin typeface="Arial"/>
              <a:ea typeface="Arial"/>
              <a:cs typeface="Arial"/>
              <a:sym typeface="Arial"/>
            </a:endParaRPr>
          </a:p>
          <a:p>
            <a:pPr indent="-293211" lvl="0" marL="457200" rtl="0" algn="l">
              <a:lnSpc>
                <a:spcPct val="95000"/>
              </a:lnSpc>
              <a:spcBef>
                <a:spcPts val="0"/>
              </a:spcBef>
              <a:spcAft>
                <a:spcPts val="0"/>
              </a:spcAft>
              <a:buClr>
                <a:srgbClr val="000000"/>
              </a:buClr>
              <a:buSzPts val="1018"/>
              <a:buFont typeface="Arial"/>
              <a:buChar char="●"/>
            </a:pPr>
            <a:r>
              <a:rPr lang="en" sz="1017">
                <a:solidFill>
                  <a:srgbClr val="000000"/>
                </a:solidFill>
                <a:latin typeface="Arial"/>
                <a:ea typeface="Arial"/>
                <a:cs typeface="Arial"/>
                <a:sym typeface="Arial"/>
              </a:rPr>
              <a:t>This suggests strong customer demand in both early evening and late-night slots.</a:t>
            </a:r>
            <a:endParaRPr sz="1017">
              <a:solidFill>
                <a:srgbClr val="000000"/>
              </a:solidFill>
              <a:latin typeface="Arial"/>
              <a:ea typeface="Arial"/>
              <a:cs typeface="Arial"/>
              <a:sym typeface="Arial"/>
            </a:endParaRPr>
          </a:p>
          <a:p>
            <a:pPr indent="0" lvl="0" marL="0" rtl="0" algn="l">
              <a:lnSpc>
                <a:spcPct val="95000"/>
              </a:lnSpc>
              <a:spcBef>
                <a:spcPts val="1200"/>
              </a:spcBef>
              <a:spcAft>
                <a:spcPts val="0"/>
              </a:spcAft>
              <a:buSzPts val="1018"/>
              <a:buNone/>
            </a:pPr>
            <a:br>
              <a:rPr lang="en" sz="1017">
                <a:solidFill>
                  <a:srgbClr val="000000"/>
                </a:solidFill>
                <a:latin typeface="Arial"/>
                <a:ea typeface="Arial"/>
                <a:cs typeface="Arial"/>
                <a:sym typeface="Arial"/>
              </a:rPr>
            </a:br>
            <a:r>
              <a:rPr b="1" lang="en" sz="1017">
                <a:solidFill>
                  <a:srgbClr val="000000"/>
                </a:solidFill>
                <a:latin typeface="Arial"/>
                <a:ea typeface="Arial"/>
                <a:cs typeface="Arial"/>
                <a:sym typeface="Arial"/>
              </a:rPr>
              <a:t>📌 What We’ll Do:</a:t>
            </a:r>
            <a:endParaRPr b="1" sz="1017">
              <a:solidFill>
                <a:srgbClr val="000000"/>
              </a:solidFill>
              <a:latin typeface="Arial"/>
              <a:ea typeface="Arial"/>
              <a:cs typeface="Arial"/>
              <a:sym typeface="Arial"/>
            </a:endParaRPr>
          </a:p>
          <a:p>
            <a:pPr indent="-293211" lvl="0" marL="457200" rtl="0" algn="l">
              <a:lnSpc>
                <a:spcPct val="95000"/>
              </a:lnSpc>
              <a:spcBef>
                <a:spcPts val="1200"/>
              </a:spcBef>
              <a:spcAft>
                <a:spcPts val="0"/>
              </a:spcAft>
              <a:buClr>
                <a:srgbClr val="000000"/>
              </a:buClr>
              <a:buSzPts val="1018"/>
              <a:buFont typeface="Arial"/>
              <a:buChar char="●"/>
            </a:pPr>
            <a:r>
              <a:rPr lang="en" sz="1017">
                <a:solidFill>
                  <a:srgbClr val="000000"/>
                </a:solidFill>
                <a:latin typeface="Arial"/>
                <a:ea typeface="Arial"/>
                <a:cs typeface="Arial"/>
                <a:sym typeface="Arial"/>
              </a:rPr>
              <a:t>We plan to extend operating hours to at least midnight to capture the late-night crowd.</a:t>
            </a:r>
            <a:endParaRPr sz="1017">
              <a:solidFill>
                <a:srgbClr val="000000"/>
              </a:solidFill>
              <a:latin typeface="Arial"/>
              <a:ea typeface="Arial"/>
              <a:cs typeface="Arial"/>
              <a:sym typeface="Arial"/>
            </a:endParaRPr>
          </a:p>
          <a:p>
            <a:pPr indent="-293211" lvl="0" marL="457200" rtl="0" algn="l">
              <a:lnSpc>
                <a:spcPct val="95000"/>
              </a:lnSpc>
              <a:spcBef>
                <a:spcPts val="0"/>
              </a:spcBef>
              <a:spcAft>
                <a:spcPts val="0"/>
              </a:spcAft>
              <a:buClr>
                <a:srgbClr val="000000"/>
              </a:buClr>
              <a:buSzPts val="1018"/>
              <a:buFont typeface="Arial"/>
              <a:buChar char="●"/>
            </a:pPr>
            <a:r>
              <a:rPr lang="en" sz="1017">
                <a:solidFill>
                  <a:srgbClr val="000000"/>
                </a:solidFill>
                <a:latin typeface="Arial"/>
                <a:ea typeface="Arial"/>
                <a:cs typeface="Arial"/>
                <a:sym typeface="Arial"/>
              </a:rPr>
              <a:t>We’ll also introduce a 5–7 PM happy hour to attract the after-work and early dinner segment — effectively serving two high-demand customer groups.</a:t>
            </a:r>
            <a:endParaRPr sz="1017">
              <a:solidFill>
                <a:srgbClr val="000000"/>
              </a:solidFill>
              <a:latin typeface="Arial"/>
              <a:ea typeface="Arial"/>
              <a:cs typeface="Arial"/>
              <a:sym typeface="Arial"/>
            </a:endParaRPr>
          </a:p>
        </p:txBody>
      </p:sp>
      <p:pic>
        <p:nvPicPr>
          <p:cNvPr id="92" name="Google Shape;92;p16" title="Query 2.png"/>
          <p:cNvPicPr preferRelativeResize="0"/>
          <p:nvPr/>
        </p:nvPicPr>
        <p:blipFill>
          <a:blip r:embed="rId3">
            <a:alphaModFix/>
          </a:blip>
          <a:stretch>
            <a:fillRect/>
          </a:stretch>
        </p:blipFill>
        <p:spPr>
          <a:xfrm>
            <a:off x="4256800" y="1768400"/>
            <a:ext cx="2755525" cy="1984462"/>
          </a:xfrm>
          <a:prstGeom prst="rect">
            <a:avLst/>
          </a:prstGeom>
          <a:noFill/>
          <a:ln>
            <a:noFill/>
          </a:ln>
        </p:spPr>
      </p:pic>
      <p:pic>
        <p:nvPicPr>
          <p:cNvPr id="93" name="Google Shape;93;p16" title="Query 3.png"/>
          <p:cNvPicPr preferRelativeResize="0"/>
          <p:nvPr/>
        </p:nvPicPr>
        <p:blipFill>
          <a:blip r:embed="rId4">
            <a:alphaModFix/>
          </a:blip>
          <a:stretch>
            <a:fillRect/>
          </a:stretch>
        </p:blipFill>
        <p:spPr>
          <a:xfrm>
            <a:off x="7364700" y="1768400"/>
            <a:ext cx="1329300" cy="1963050"/>
          </a:xfrm>
          <a:prstGeom prst="rect">
            <a:avLst/>
          </a:prstGeom>
          <a:noFill/>
          <a:ln>
            <a:noFill/>
          </a:ln>
        </p:spPr>
      </p:pic>
      <p:sp>
        <p:nvSpPr>
          <p:cNvPr id="94" name="Google Shape;94;p16"/>
          <p:cNvSpPr txBox="1"/>
          <p:nvPr/>
        </p:nvSpPr>
        <p:spPr>
          <a:xfrm>
            <a:off x="4256800" y="3910600"/>
            <a:ext cx="4398600" cy="8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 </a:t>
            </a:r>
            <a:r>
              <a:rPr b="1" lang="en" sz="1000" u="sng"/>
              <a:t>Location Performance by Zip Code</a:t>
            </a:r>
            <a:endParaRPr b="1" sz="1000" u="sng"/>
          </a:p>
          <a:p>
            <a:pPr indent="0" lvl="0" marL="0" rtl="0" algn="l">
              <a:spcBef>
                <a:spcPts val="0"/>
              </a:spcBef>
              <a:spcAft>
                <a:spcPts val="0"/>
              </a:spcAft>
              <a:buNone/>
            </a:pPr>
            <a:r>
              <a:t/>
            </a:r>
            <a:endParaRPr b="1" sz="1000" u="sng"/>
          </a:p>
          <a:p>
            <a:pPr indent="0" lvl="0" marL="0" rtl="0" algn="l">
              <a:spcBef>
                <a:spcPts val="0"/>
              </a:spcBef>
              <a:spcAft>
                <a:spcPts val="0"/>
              </a:spcAft>
              <a:buNone/>
            </a:pPr>
            <a:r>
              <a:rPr b="1" lang="en" sz="1000"/>
              <a:t>📌 What We’ll Do:</a:t>
            </a:r>
            <a:endParaRPr b="1" sz="1000"/>
          </a:p>
          <a:p>
            <a:pPr indent="0" lvl="0" marL="0" rtl="0" algn="l">
              <a:spcBef>
                <a:spcPts val="0"/>
              </a:spcBef>
              <a:spcAft>
                <a:spcPts val="0"/>
              </a:spcAft>
              <a:buNone/>
            </a:pPr>
            <a:r>
              <a:rPr lang="en" sz="1000"/>
              <a:t>We’ll consider 37203 for exposure and customer volume, or 37206 for a more premium, reputation-driven launch — depending on our brand positioning.</a:t>
            </a:r>
            <a:endParaRPr sz="1000">
              <a:solidFill>
                <a:schemeClr val="lt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Nashville’s Best Restaurants Teach Us</a:t>
            </a:r>
            <a:endParaRPr/>
          </a:p>
        </p:txBody>
      </p:sp>
      <p:sp>
        <p:nvSpPr>
          <p:cNvPr id="100" name="Google Shape;100;p17"/>
          <p:cNvSpPr txBox="1"/>
          <p:nvPr>
            <p:ph idx="1" type="body"/>
          </p:nvPr>
        </p:nvSpPr>
        <p:spPr>
          <a:xfrm>
            <a:off x="471900" y="1812050"/>
            <a:ext cx="3315600" cy="18930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935"/>
              <a:buNone/>
            </a:pPr>
            <a:r>
              <a:rPr lang="en" sz="1100">
                <a:solidFill>
                  <a:srgbClr val="000000"/>
                </a:solidFill>
                <a:latin typeface="Arial"/>
                <a:ea typeface="Arial"/>
                <a:cs typeface="Arial"/>
                <a:sym typeface="Arial"/>
              </a:rPr>
              <a:t>💵 </a:t>
            </a:r>
            <a:r>
              <a:rPr b="1" lang="en" sz="1100" u="sng">
                <a:solidFill>
                  <a:srgbClr val="000000"/>
                </a:solidFill>
                <a:latin typeface="Arial"/>
                <a:ea typeface="Arial"/>
                <a:cs typeface="Arial"/>
                <a:sym typeface="Arial"/>
              </a:rPr>
              <a:t>Average Rating by Price Level</a:t>
            </a:r>
            <a:endParaRPr b="1" sz="1135" u="sng">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b="1" lang="en" sz="1135">
                <a:solidFill>
                  <a:srgbClr val="000000"/>
                </a:solidFill>
                <a:latin typeface="Arial"/>
                <a:ea typeface="Arial"/>
                <a:cs typeface="Arial"/>
                <a:sym typeface="Arial"/>
              </a:rPr>
              <a:t>🧠 Insight:</a:t>
            </a:r>
            <a:br>
              <a:rPr b="1" lang="en" sz="1135">
                <a:solidFill>
                  <a:srgbClr val="000000"/>
                </a:solidFill>
                <a:latin typeface="Arial"/>
                <a:ea typeface="Arial"/>
                <a:cs typeface="Arial"/>
                <a:sym typeface="Arial"/>
              </a:rPr>
            </a:br>
            <a:r>
              <a:rPr lang="en" sz="1135">
                <a:solidFill>
                  <a:srgbClr val="000000"/>
                </a:solidFill>
                <a:latin typeface="Arial"/>
                <a:ea typeface="Arial"/>
                <a:cs typeface="Arial"/>
                <a:sym typeface="Arial"/>
              </a:rPr>
              <a:t> Mid-priced restaurants (levels 2–3) in Nashville earn higher ratings (~3.7) than low or premium-priced spots, showing that customers value quality over the cheapest option.</a:t>
            </a:r>
            <a:endParaRPr sz="1135">
              <a:solidFill>
                <a:srgbClr val="000000"/>
              </a:solidFill>
              <a:latin typeface="Arial"/>
              <a:ea typeface="Arial"/>
              <a:cs typeface="Arial"/>
              <a:sym typeface="Arial"/>
            </a:endParaRPr>
          </a:p>
          <a:p>
            <a:pPr indent="0" lvl="0" marL="0" rtl="0" algn="l">
              <a:lnSpc>
                <a:spcPct val="95000"/>
              </a:lnSpc>
              <a:spcBef>
                <a:spcPts val="1200"/>
              </a:spcBef>
              <a:spcAft>
                <a:spcPts val="0"/>
              </a:spcAft>
              <a:buSzPts val="935"/>
              <a:buNone/>
            </a:pPr>
            <a:r>
              <a:rPr b="1" lang="en" sz="1135">
                <a:solidFill>
                  <a:srgbClr val="000000"/>
                </a:solidFill>
                <a:latin typeface="Arial"/>
                <a:ea typeface="Arial"/>
                <a:cs typeface="Arial"/>
                <a:sym typeface="Arial"/>
              </a:rPr>
              <a:t>📌 What We’ll Do:</a:t>
            </a:r>
            <a:br>
              <a:rPr b="1" lang="en" sz="1135">
                <a:solidFill>
                  <a:srgbClr val="000000"/>
                </a:solidFill>
                <a:latin typeface="Arial"/>
                <a:ea typeface="Arial"/>
                <a:cs typeface="Arial"/>
                <a:sym typeface="Arial"/>
              </a:rPr>
            </a:br>
            <a:r>
              <a:rPr lang="en" sz="1135">
                <a:solidFill>
                  <a:srgbClr val="000000"/>
                </a:solidFill>
                <a:latin typeface="Arial"/>
                <a:ea typeface="Arial"/>
                <a:cs typeface="Arial"/>
                <a:sym typeface="Arial"/>
              </a:rPr>
              <a:t> We’ll position our restaurant in the mid-range segment to balance quality with value perception.</a:t>
            </a:r>
            <a:endParaRPr sz="1135">
              <a:solidFill>
                <a:srgbClr val="000000"/>
              </a:solidFill>
              <a:latin typeface="Arial"/>
              <a:ea typeface="Arial"/>
              <a:cs typeface="Arial"/>
              <a:sym typeface="Arial"/>
            </a:endParaRPr>
          </a:p>
          <a:p>
            <a:pPr indent="0" lvl="0" marL="0" rtl="0" algn="l">
              <a:lnSpc>
                <a:spcPct val="95000"/>
              </a:lnSpc>
              <a:spcBef>
                <a:spcPts val="1200"/>
              </a:spcBef>
              <a:spcAft>
                <a:spcPts val="1200"/>
              </a:spcAft>
              <a:buSzPts val="935"/>
              <a:buNone/>
            </a:pPr>
            <a:r>
              <a:t/>
            </a:r>
            <a:endParaRPr sz="1729"/>
          </a:p>
        </p:txBody>
      </p:sp>
      <p:pic>
        <p:nvPicPr>
          <p:cNvPr id="101" name="Google Shape;101;p17" title="Query 5.png"/>
          <p:cNvPicPr preferRelativeResize="0"/>
          <p:nvPr/>
        </p:nvPicPr>
        <p:blipFill>
          <a:blip r:embed="rId3">
            <a:alphaModFix/>
          </a:blip>
          <a:stretch>
            <a:fillRect/>
          </a:stretch>
        </p:blipFill>
        <p:spPr>
          <a:xfrm>
            <a:off x="6513375" y="1907575"/>
            <a:ext cx="2246600" cy="1460975"/>
          </a:xfrm>
          <a:prstGeom prst="rect">
            <a:avLst/>
          </a:prstGeom>
          <a:noFill/>
          <a:ln>
            <a:noFill/>
          </a:ln>
        </p:spPr>
      </p:pic>
      <p:sp>
        <p:nvSpPr>
          <p:cNvPr id="102" name="Google Shape;102;p17"/>
          <p:cNvSpPr txBox="1"/>
          <p:nvPr/>
        </p:nvSpPr>
        <p:spPr>
          <a:xfrm>
            <a:off x="471900" y="4210275"/>
            <a:ext cx="8341500" cy="76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1100"/>
          </a:p>
        </p:txBody>
      </p:sp>
      <p:pic>
        <p:nvPicPr>
          <p:cNvPr id="103" name="Google Shape;103;p17" title="most reviewed rest_new.png"/>
          <p:cNvPicPr preferRelativeResize="0"/>
          <p:nvPr/>
        </p:nvPicPr>
        <p:blipFill>
          <a:blip r:embed="rId4">
            <a:alphaModFix/>
          </a:blip>
          <a:stretch>
            <a:fillRect/>
          </a:stretch>
        </p:blipFill>
        <p:spPr>
          <a:xfrm>
            <a:off x="3852825" y="1841263"/>
            <a:ext cx="2440124" cy="1460975"/>
          </a:xfrm>
          <a:prstGeom prst="rect">
            <a:avLst/>
          </a:prstGeom>
          <a:noFill/>
          <a:ln>
            <a:noFill/>
          </a:ln>
        </p:spPr>
      </p:pic>
      <p:sp>
        <p:nvSpPr>
          <p:cNvPr id="104" name="Google Shape;104;p17"/>
          <p:cNvSpPr txBox="1"/>
          <p:nvPr/>
        </p:nvSpPr>
        <p:spPr>
          <a:xfrm>
            <a:off x="2206825" y="4063650"/>
            <a:ext cx="3165600" cy="87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000"/>
              <a:t>🧠 Insight:</a:t>
            </a:r>
            <a:br>
              <a:rPr b="1" lang="en" sz="1000"/>
            </a:br>
            <a:r>
              <a:rPr lang="en" sz="1000"/>
              <a:t> Top-reviewed spots like Hattie B’s and Biscuit Love succeed with strong branding and regional comfort food that consistently earns ratings above 4.0.</a:t>
            </a:r>
            <a:endParaRPr sz="1000"/>
          </a:p>
          <a:p>
            <a:pPr indent="0" lvl="0" marL="0" rtl="0" algn="l">
              <a:lnSpc>
                <a:spcPct val="115000"/>
              </a:lnSpc>
              <a:spcBef>
                <a:spcPts val="1200"/>
              </a:spcBef>
              <a:spcAft>
                <a:spcPts val="0"/>
              </a:spcAft>
              <a:buNone/>
            </a:pPr>
            <a:r>
              <a:t/>
            </a:r>
            <a:endParaRPr sz="1000"/>
          </a:p>
          <a:p>
            <a:pPr indent="0" lvl="0" marL="0" rtl="0" algn="l">
              <a:spcBef>
                <a:spcPts val="1200"/>
              </a:spcBef>
              <a:spcAft>
                <a:spcPts val="0"/>
              </a:spcAft>
              <a:buNone/>
            </a:pPr>
            <a:r>
              <a:t/>
            </a:r>
            <a:endParaRPr sz="1700">
              <a:solidFill>
                <a:schemeClr val="lt2"/>
              </a:solidFill>
              <a:latin typeface="Roboto"/>
              <a:ea typeface="Roboto"/>
              <a:cs typeface="Roboto"/>
              <a:sym typeface="Roboto"/>
            </a:endParaRPr>
          </a:p>
        </p:txBody>
      </p:sp>
      <p:sp>
        <p:nvSpPr>
          <p:cNvPr id="105" name="Google Shape;105;p17"/>
          <p:cNvSpPr txBox="1"/>
          <p:nvPr/>
        </p:nvSpPr>
        <p:spPr>
          <a:xfrm>
            <a:off x="5834875" y="4116750"/>
            <a:ext cx="2978400" cy="87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000"/>
              <a:t>📌 What We’ll Do:</a:t>
            </a:r>
            <a:br>
              <a:rPr b="1" lang="en" sz="1000"/>
            </a:br>
            <a:r>
              <a:rPr lang="en" sz="1000"/>
              <a:t> We’ll draw inspiration from their strengths while offering a modern or fusion twist to stand out and attract adventurous diners.</a:t>
            </a:r>
            <a:endParaRPr sz="1800">
              <a:solidFill>
                <a:schemeClr val="lt2"/>
              </a:solidFill>
              <a:latin typeface="Roboto"/>
              <a:ea typeface="Roboto"/>
              <a:cs typeface="Roboto"/>
              <a:sym typeface="Roboto"/>
            </a:endParaRPr>
          </a:p>
        </p:txBody>
      </p:sp>
      <p:sp>
        <p:nvSpPr>
          <p:cNvPr id="106" name="Google Shape;106;p17"/>
          <p:cNvSpPr txBox="1"/>
          <p:nvPr/>
        </p:nvSpPr>
        <p:spPr>
          <a:xfrm>
            <a:off x="4058300" y="3685850"/>
            <a:ext cx="3082200" cy="3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 </a:t>
            </a:r>
            <a:r>
              <a:rPr b="1" lang="en" sz="1100" u="sng"/>
              <a:t>Learning from Local Favorites</a:t>
            </a:r>
            <a:endParaRPr sz="1800" u="sng">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“Takeout vs Delivery: Choosing the Right Model”</a:t>
            </a:r>
            <a:endParaRPr/>
          </a:p>
        </p:txBody>
      </p:sp>
      <p:sp>
        <p:nvSpPr>
          <p:cNvPr id="112" name="Google Shape;112;p18"/>
          <p:cNvSpPr txBox="1"/>
          <p:nvPr>
            <p:ph idx="1" type="body"/>
          </p:nvPr>
        </p:nvSpPr>
        <p:spPr>
          <a:xfrm>
            <a:off x="471900" y="1919075"/>
            <a:ext cx="2973600" cy="2710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 Takeout vs Delivery Insight</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 Insight:</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Only </a:t>
            </a:r>
            <a:r>
              <a:rPr b="1" lang="en" sz="1100">
                <a:solidFill>
                  <a:srgbClr val="000000"/>
                </a:solidFill>
                <a:latin typeface="Arial"/>
                <a:ea typeface="Arial"/>
                <a:cs typeface="Arial"/>
                <a:sym typeface="Arial"/>
              </a:rPr>
              <a:t>30%</a:t>
            </a:r>
            <a:r>
              <a:rPr lang="en" sz="1100">
                <a:solidFill>
                  <a:srgbClr val="000000"/>
                </a:solidFill>
                <a:latin typeface="Arial"/>
                <a:ea typeface="Arial"/>
                <a:cs typeface="Arial"/>
                <a:sym typeface="Arial"/>
              </a:rPr>
              <a:t> of Nashville restaurants offer delivery, while </a:t>
            </a:r>
            <a:r>
              <a:rPr b="1" lang="en" sz="1100">
                <a:solidFill>
                  <a:srgbClr val="000000"/>
                </a:solidFill>
                <a:latin typeface="Arial"/>
                <a:ea typeface="Arial"/>
                <a:cs typeface="Arial"/>
                <a:sym typeface="Arial"/>
              </a:rPr>
              <a:t>50%</a:t>
            </a:r>
            <a:r>
              <a:rPr lang="en" sz="1100">
                <a:solidFill>
                  <a:srgbClr val="000000"/>
                </a:solidFill>
                <a:latin typeface="Arial"/>
                <a:ea typeface="Arial"/>
                <a:cs typeface="Arial"/>
                <a:sym typeface="Arial"/>
              </a:rPr>
              <a:t> offer takeout — suggesting that takeout is more widely adopted and lower-risk.</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 Action:</a:t>
            </a: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We’ll start with a </a:t>
            </a:r>
            <a:r>
              <a:rPr b="1" lang="en" sz="1100">
                <a:solidFill>
                  <a:srgbClr val="000000"/>
                </a:solidFill>
                <a:latin typeface="Arial"/>
                <a:ea typeface="Arial"/>
                <a:cs typeface="Arial"/>
                <a:sym typeface="Arial"/>
              </a:rPr>
              <a:t>takeout-first model</a:t>
            </a:r>
            <a:r>
              <a:rPr lang="en" sz="1100">
                <a:solidFill>
                  <a:srgbClr val="000000"/>
                </a:solidFill>
                <a:latin typeface="Arial"/>
                <a:ea typeface="Arial"/>
                <a:cs typeface="Arial"/>
                <a:sym typeface="Arial"/>
              </a:rPr>
              <a:t> to test demand before scaling to delivery.</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13" name="Google Shape;113;p18" title="Query 9.png"/>
          <p:cNvPicPr preferRelativeResize="0"/>
          <p:nvPr/>
        </p:nvPicPr>
        <p:blipFill>
          <a:blip r:embed="rId3">
            <a:alphaModFix/>
          </a:blip>
          <a:stretch>
            <a:fillRect/>
          </a:stretch>
        </p:blipFill>
        <p:spPr>
          <a:xfrm>
            <a:off x="3940100" y="1899475"/>
            <a:ext cx="4210050" cy="790575"/>
          </a:xfrm>
          <a:prstGeom prst="rect">
            <a:avLst/>
          </a:prstGeom>
          <a:noFill/>
          <a:ln>
            <a:noFill/>
          </a:ln>
        </p:spPr>
      </p:pic>
      <p:pic>
        <p:nvPicPr>
          <p:cNvPr id="114" name="Google Shape;114;p18" title="Delivery.jpg"/>
          <p:cNvPicPr preferRelativeResize="0"/>
          <p:nvPr/>
        </p:nvPicPr>
        <p:blipFill>
          <a:blip r:embed="rId4">
            <a:alphaModFix/>
          </a:blip>
          <a:stretch>
            <a:fillRect/>
          </a:stretch>
        </p:blipFill>
        <p:spPr>
          <a:xfrm>
            <a:off x="3608600" y="2899175"/>
            <a:ext cx="2429600" cy="1639700"/>
          </a:xfrm>
          <a:prstGeom prst="rect">
            <a:avLst/>
          </a:prstGeom>
          <a:noFill/>
          <a:ln>
            <a:noFill/>
          </a:ln>
        </p:spPr>
      </p:pic>
      <p:pic>
        <p:nvPicPr>
          <p:cNvPr id="115" name="Google Shape;115;p18" title="Takeout.jpg.crdownload"/>
          <p:cNvPicPr preferRelativeResize="0"/>
          <p:nvPr/>
        </p:nvPicPr>
        <p:blipFill>
          <a:blip r:embed="rId5">
            <a:alphaModFix/>
          </a:blip>
          <a:stretch>
            <a:fillRect/>
          </a:stretch>
        </p:blipFill>
        <p:spPr>
          <a:xfrm>
            <a:off x="6361850" y="2899175"/>
            <a:ext cx="2544651" cy="1639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Turning Insights Into Action</a:t>
            </a:r>
            <a:endParaRPr/>
          </a:p>
        </p:txBody>
      </p:sp>
      <p:sp>
        <p:nvSpPr>
          <p:cNvPr id="121" name="Google Shape;121;p19"/>
          <p:cNvSpPr txBox="1"/>
          <p:nvPr>
            <p:ph idx="1" type="body"/>
          </p:nvPr>
        </p:nvSpPr>
        <p:spPr>
          <a:xfrm>
            <a:off x="471900" y="1919075"/>
            <a:ext cx="5106000" cy="27102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 Our Strategy Going Forward:</a:t>
            </a:r>
            <a:endParaRPr b="1" sz="13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Location-first approach:</a:t>
            </a:r>
            <a:r>
              <a:rPr lang="en" sz="1100">
                <a:solidFill>
                  <a:srgbClr val="000000"/>
                </a:solidFill>
                <a:latin typeface="Arial"/>
                <a:ea typeface="Arial"/>
                <a:cs typeface="Arial"/>
                <a:sym typeface="Arial"/>
              </a:rPr>
              <a:t> Prioritize </a:t>
            </a:r>
            <a:r>
              <a:rPr b="1" lang="en" sz="1100">
                <a:solidFill>
                  <a:srgbClr val="000000"/>
                </a:solidFill>
                <a:latin typeface="Arial"/>
                <a:ea typeface="Arial"/>
                <a:cs typeface="Arial"/>
                <a:sym typeface="Arial"/>
              </a:rPr>
              <a:t>visibility in ZIP 37203</a:t>
            </a:r>
            <a:r>
              <a:rPr lang="en" sz="1100">
                <a:solidFill>
                  <a:srgbClr val="000000"/>
                </a:solidFill>
                <a:latin typeface="Arial"/>
                <a:ea typeface="Arial"/>
                <a:cs typeface="Arial"/>
                <a:sym typeface="Arial"/>
              </a:rPr>
              <a:t> or </a:t>
            </a:r>
            <a:r>
              <a:rPr b="1" lang="en" sz="1100">
                <a:solidFill>
                  <a:srgbClr val="000000"/>
                </a:solidFill>
                <a:latin typeface="Arial"/>
                <a:ea typeface="Arial"/>
                <a:cs typeface="Arial"/>
                <a:sym typeface="Arial"/>
              </a:rPr>
              <a:t>reputation in ZIP 37206</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Dinner-focused hours</a:t>
            </a:r>
            <a:r>
              <a:rPr lang="en" sz="1100">
                <a:solidFill>
                  <a:srgbClr val="000000"/>
                </a:solidFill>
                <a:latin typeface="Arial"/>
                <a:ea typeface="Arial"/>
                <a:cs typeface="Arial"/>
                <a:sym typeface="Arial"/>
              </a:rPr>
              <a:t> with optional late-night service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Mid-range price point</a:t>
            </a:r>
            <a:r>
              <a:rPr lang="en" sz="1100">
                <a:solidFill>
                  <a:srgbClr val="000000"/>
                </a:solidFill>
                <a:latin typeface="Arial"/>
                <a:ea typeface="Arial"/>
                <a:cs typeface="Arial"/>
                <a:sym typeface="Arial"/>
              </a:rPr>
              <a:t> to balance quality and reach</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Explore </a:t>
            </a:r>
            <a:r>
              <a:rPr b="1" lang="en" sz="1100">
                <a:solidFill>
                  <a:srgbClr val="000000"/>
                </a:solidFill>
                <a:latin typeface="Arial"/>
                <a:ea typeface="Arial"/>
                <a:cs typeface="Arial"/>
                <a:sym typeface="Arial"/>
              </a:rPr>
              <a:t>niche cuisine</a:t>
            </a:r>
            <a:r>
              <a:rPr lang="en" sz="1100">
                <a:solidFill>
                  <a:srgbClr val="000000"/>
                </a:solidFill>
                <a:latin typeface="Arial"/>
                <a:ea typeface="Arial"/>
                <a:cs typeface="Arial"/>
                <a:sym typeface="Arial"/>
              </a:rPr>
              <a:t> with strong branding</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Launch with </a:t>
            </a:r>
            <a:r>
              <a:rPr b="1" lang="en" sz="1100">
                <a:solidFill>
                  <a:srgbClr val="000000"/>
                </a:solidFill>
                <a:latin typeface="Arial"/>
                <a:ea typeface="Arial"/>
                <a:cs typeface="Arial"/>
                <a:sym typeface="Arial"/>
              </a:rPr>
              <a:t>takeout</a:t>
            </a:r>
            <a:r>
              <a:rPr lang="en" sz="1100">
                <a:solidFill>
                  <a:srgbClr val="000000"/>
                </a:solidFill>
                <a:latin typeface="Arial"/>
                <a:ea typeface="Arial"/>
                <a:cs typeface="Arial"/>
                <a:sym typeface="Arial"/>
              </a:rPr>
              <a:t>, expand to </a:t>
            </a:r>
            <a:r>
              <a:rPr b="1" lang="en" sz="1100">
                <a:solidFill>
                  <a:srgbClr val="000000"/>
                </a:solidFill>
                <a:latin typeface="Arial"/>
                <a:ea typeface="Arial"/>
                <a:cs typeface="Arial"/>
                <a:sym typeface="Arial"/>
              </a:rPr>
              <a:t>delivery</a:t>
            </a:r>
            <a:r>
              <a:rPr lang="en" sz="1100">
                <a:solidFill>
                  <a:srgbClr val="000000"/>
                </a:solidFill>
                <a:latin typeface="Arial"/>
                <a:ea typeface="Arial"/>
                <a:cs typeface="Arial"/>
                <a:sym typeface="Arial"/>
              </a:rPr>
              <a:t> later</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22" name="Google Shape;122;p19" title="Insight to Actions.jpg"/>
          <p:cNvPicPr preferRelativeResize="0"/>
          <p:nvPr/>
        </p:nvPicPr>
        <p:blipFill>
          <a:blip r:embed="rId3">
            <a:alphaModFix/>
          </a:blip>
          <a:stretch>
            <a:fillRect/>
          </a:stretch>
        </p:blipFill>
        <p:spPr>
          <a:xfrm>
            <a:off x="5331850" y="2059100"/>
            <a:ext cx="3264200" cy="195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Skills  Developed</a:t>
            </a:r>
            <a:endParaRPr/>
          </a:p>
        </p:txBody>
      </p:sp>
      <p:sp>
        <p:nvSpPr>
          <p:cNvPr id="128" name="Google Shape;128;p20"/>
          <p:cNvSpPr txBox="1"/>
          <p:nvPr>
            <p:ph idx="1" type="body"/>
          </p:nvPr>
        </p:nvSpPr>
        <p:spPr>
          <a:xfrm>
            <a:off x="471900" y="1919075"/>
            <a:ext cx="57483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b="1" lang="en" sz="970">
                <a:solidFill>
                  <a:srgbClr val="000000"/>
                </a:solidFill>
                <a:latin typeface="Arial"/>
                <a:ea typeface="Arial"/>
                <a:cs typeface="Arial"/>
                <a:sym typeface="Arial"/>
              </a:rPr>
              <a:t>Advanced SQL Skills:</a:t>
            </a:r>
            <a:br>
              <a:rPr b="1" lang="en" sz="970">
                <a:solidFill>
                  <a:srgbClr val="000000"/>
                </a:solidFill>
                <a:latin typeface="Arial"/>
                <a:ea typeface="Arial"/>
                <a:cs typeface="Arial"/>
                <a:sym typeface="Arial"/>
              </a:rPr>
            </a:br>
            <a:r>
              <a:rPr lang="en" sz="970">
                <a:solidFill>
                  <a:srgbClr val="000000"/>
                </a:solidFill>
                <a:latin typeface="Arial"/>
                <a:ea typeface="Arial"/>
                <a:cs typeface="Arial"/>
                <a:sym typeface="Arial"/>
              </a:rPr>
              <a:t> Used joins, filters, </a:t>
            </a:r>
            <a:r>
              <a:rPr lang="en" sz="970">
                <a:solidFill>
                  <a:srgbClr val="188038"/>
                </a:solidFill>
                <a:latin typeface="Roboto Mono"/>
                <a:ea typeface="Roboto Mono"/>
                <a:cs typeface="Roboto Mono"/>
                <a:sym typeface="Roboto Mono"/>
              </a:rPr>
              <a:t>CAST</a:t>
            </a:r>
            <a:r>
              <a:rPr lang="en" sz="970">
                <a:solidFill>
                  <a:srgbClr val="000000"/>
                </a:solidFill>
                <a:latin typeface="Arial"/>
                <a:ea typeface="Arial"/>
                <a:cs typeface="Arial"/>
                <a:sym typeface="Arial"/>
              </a:rPr>
              <a:t>, </a:t>
            </a:r>
            <a:r>
              <a:rPr lang="en" sz="970">
                <a:solidFill>
                  <a:srgbClr val="188038"/>
                </a:solidFill>
                <a:latin typeface="Roboto Mono"/>
                <a:ea typeface="Roboto Mono"/>
                <a:cs typeface="Roboto Mono"/>
                <a:sym typeface="Roboto Mono"/>
              </a:rPr>
              <a:t>GROUP BY</a:t>
            </a:r>
            <a:r>
              <a:rPr lang="en" sz="970">
                <a:solidFill>
                  <a:srgbClr val="000000"/>
                </a:solidFill>
                <a:latin typeface="Arial"/>
                <a:ea typeface="Arial"/>
                <a:cs typeface="Arial"/>
                <a:sym typeface="Arial"/>
              </a:rPr>
              <a:t>, and nested queries to extract insights from complex Yelp data</a:t>
            </a:r>
            <a:br>
              <a:rPr lang="en" sz="970">
                <a:solidFill>
                  <a:srgbClr val="000000"/>
                </a:solidFill>
                <a:latin typeface="Arial"/>
                <a:ea typeface="Arial"/>
                <a:cs typeface="Arial"/>
                <a:sym typeface="Arial"/>
              </a:rPr>
            </a:br>
            <a:endParaRPr sz="97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en" sz="970">
                <a:solidFill>
                  <a:srgbClr val="000000"/>
                </a:solidFill>
                <a:latin typeface="Arial"/>
                <a:ea typeface="Arial"/>
                <a:cs typeface="Arial"/>
                <a:sym typeface="Arial"/>
              </a:rPr>
              <a:t>Azure SQL &amp; Schema Design:</a:t>
            </a:r>
            <a:br>
              <a:rPr b="1" lang="en" sz="970">
                <a:solidFill>
                  <a:srgbClr val="000000"/>
                </a:solidFill>
                <a:latin typeface="Arial"/>
                <a:ea typeface="Arial"/>
                <a:cs typeface="Arial"/>
                <a:sym typeface="Arial"/>
              </a:rPr>
            </a:br>
            <a:r>
              <a:rPr lang="en" sz="970">
                <a:solidFill>
                  <a:srgbClr val="000000"/>
                </a:solidFill>
                <a:latin typeface="Arial"/>
                <a:ea typeface="Arial"/>
                <a:cs typeface="Arial"/>
                <a:sym typeface="Arial"/>
              </a:rPr>
              <a:t> Converted JSON data into structured SQL tables with proper keys and constraints on Azure</a:t>
            </a:r>
            <a:br>
              <a:rPr lang="en" sz="970">
                <a:solidFill>
                  <a:srgbClr val="000000"/>
                </a:solidFill>
                <a:latin typeface="Arial"/>
                <a:ea typeface="Arial"/>
                <a:cs typeface="Arial"/>
                <a:sym typeface="Arial"/>
              </a:rPr>
            </a:br>
            <a:endParaRPr sz="97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en" sz="970">
                <a:solidFill>
                  <a:srgbClr val="000000"/>
                </a:solidFill>
                <a:latin typeface="Arial"/>
                <a:ea typeface="Arial"/>
                <a:cs typeface="Arial"/>
                <a:sym typeface="Arial"/>
              </a:rPr>
              <a:t>Data Cleaning &amp; Transformation:</a:t>
            </a:r>
            <a:br>
              <a:rPr b="1" lang="en" sz="970">
                <a:solidFill>
                  <a:srgbClr val="000000"/>
                </a:solidFill>
                <a:latin typeface="Arial"/>
                <a:ea typeface="Arial"/>
                <a:cs typeface="Arial"/>
                <a:sym typeface="Arial"/>
              </a:rPr>
            </a:br>
            <a:r>
              <a:rPr lang="en" sz="970">
                <a:solidFill>
                  <a:srgbClr val="000000"/>
                </a:solidFill>
                <a:latin typeface="Arial"/>
                <a:ea typeface="Arial"/>
                <a:cs typeface="Arial"/>
                <a:sym typeface="Arial"/>
              </a:rPr>
              <a:t> Handled semi-structured data, dealt with missing values, and standardized formats for analysis</a:t>
            </a:r>
            <a:br>
              <a:rPr lang="en" sz="970">
                <a:solidFill>
                  <a:srgbClr val="000000"/>
                </a:solidFill>
                <a:latin typeface="Arial"/>
                <a:ea typeface="Arial"/>
                <a:cs typeface="Arial"/>
                <a:sym typeface="Arial"/>
              </a:rPr>
            </a:br>
            <a:endParaRPr sz="97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en" sz="970">
                <a:solidFill>
                  <a:srgbClr val="000000"/>
                </a:solidFill>
                <a:latin typeface="Arial"/>
                <a:ea typeface="Arial"/>
                <a:cs typeface="Arial"/>
                <a:sym typeface="Arial"/>
              </a:rPr>
              <a:t>Insight Generation:</a:t>
            </a:r>
            <a:br>
              <a:rPr b="1" lang="en" sz="970">
                <a:solidFill>
                  <a:srgbClr val="000000"/>
                </a:solidFill>
                <a:latin typeface="Arial"/>
                <a:ea typeface="Arial"/>
                <a:cs typeface="Arial"/>
                <a:sym typeface="Arial"/>
              </a:rPr>
            </a:br>
            <a:r>
              <a:rPr lang="en" sz="970">
                <a:solidFill>
                  <a:srgbClr val="000000"/>
                </a:solidFill>
                <a:latin typeface="Arial"/>
                <a:ea typeface="Arial"/>
                <a:cs typeface="Arial"/>
                <a:sym typeface="Arial"/>
              </a:rPr>
              <a:t> Translated raw data into actionable restaurant strategy — location, timing, pricing, and service model</a:t>
            </a:r>
            <a:br>
              <a:rPr lang="en" sz="970">
                <a:solidFill>
                  <a:srgbClr val="000000"/>
                </a:solidFill>
                <a:latin typeface="Arial"/>
                <a:ea typeface="Arial"/>
                <a:cs typeface="Arial"/>
                <a:sym typeface="Arial"/>
              </a:rPr>
            </a:br>
            <a:endParaRPr sz="97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b="1" lang="en" sz="970">
                <a:solidFill>
                  <a:srgbClr val="000000"/>
                </a:solidFill>
                <a:latin typeface="Arial"/>
                <a:ea typeface="Arial"/>
                <a:cs typeface="Arial"/>
                <a:sym typeface="Arial"/>
              </a:rPr>
              <a:t>Business Communication:</a:t>
            </a:r>
            <a:br>
              <a:rPr b="1" lang="en" sz="970">
                <a:solidFill>
                  <a:srgbClr val="000000"/>
                </a:solidFill>
                <a:latin typeface="Arial"/>
                <a:ea typeface="Arial"/>
                <a:cs typeface="Arial"/>
                <a:sym typeface="Arial"/>
              </a:rPr>
            </a:br>
            <a:r>
              <a:rPr lang="en" sz="970">
                <a:solidFill>
                  <a:srgbClr val="000000"/>
                </a:solidFill>
                <a:latin typeface="Arial"/>
                <a:ea typeface="Arial"/>
                <a:cs typeface="Arial"/>
                <a:sym typeface="Arial"/>
              </a:rPr>
              <a:t> Presented technical results in a clear, narrative format tailored to decision-makers</a:t>
            </a:r>
            <a:endParaRPr sz="97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1460"/>
          </a:p>
        </p:txBody>
      </p:sp>
      <p:pic>
        <p:nvPicPr>
          <p:cNvPr id="129" name="Google Shape;129;p20" title="Skills Developed.jpg"/>
          <p:cNvPicPr preferRelativeResize="0"/>
          <p:nvPr/>
        </p:nvPicPr>
        <p:blipFill>
          <a:blip r:embed="rId3">
            <a:alphaModFix/>
          </a:blip>
          <a:stretch>
            <a:fillRect/>
          </a:stretch>
        </p:blipFill>
        <p:spPr>
          <a:xfrm>
            <a:off x="6497350" y="2281725"/>
            <a:ext cx="2196650" cy="219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Project 2 – </a:t>
            </a:r>
            <a:r>
              <a:rPr lang="en" sz="3150">
                <a:latin typeface="Arial"/>
                <a:ea typeface="Arial"/>
                <a:cs typeface="Arial"/>
                <a:sym typeface="Arial"/>
              </a:rPr>
              <a:t>How can I maximize my salary and accelerate my career in today’s job market?</a:t>
            </a:r>
            <a:endParaRPr/>
          </a:p>
        </p:txBody>
      </p:sp>
      <p:sp>
        <p:nvSpPr>
          <p:cNvPr id="135" name="Google Shape;135;p2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marR="0" rtl="0" algn="ctr">
              <a:lnSpc>
                <a:spcPct val="115000"/>
              </a:lnSpc>
              <a:spcBef>
                <a:spcPts val="0"/>
              </a:spcBef>
              <a:spcAft>
                <a:spcPts val="1200"/>
              </a:spcAft>
              <a:buNone/>
            </a:pPr>
            <a:r>
              <a:rPr b="1" i="1" lang="en" sz="1700" u="sng">
                <a:solidFill>
                  <a:srgbClr val="000000"/>
                </a:solidFill>
                <a:latin typeface="Arial"/>
                <a:ea typeface="Arial"/>
                <a:cs typeface="Arial"/>
                <a:sym typeface="Arial"/>
              </a:rPr>
              <a:t>Salary Optimization through Skills, Seniority, and Remote Work Analysis</a:t>
            </a:r>
            <a:endParaRPr b="1" i="1" sz="1700" u="sng"/>
          </a:p>
        </p:txBody>
      </p:sp>
      <p:sp>
        <p:nvSpPr>
          <p:cNvPr id="136" name="Google Shape;136;p21"/>
          <p:cNvSpPr txBox="1"/>
          <p:nvPr/>
        </p:nvSpPr>
        <p:spPr>
          <a:xfrm>
            <a:off x="377525" y="2625425"/>
            <a:ext cx="8596200" cy="12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t>Our goal wa</a:t>
            </a:r>
            <a:r>
              <a:rPr lang="en"/>
              <a:t>s</a:t>
            </a:r>
            <a:r>
              <a:rPr lang="en"/>
              <a:t> to use </a:t>
            </a:r>
            <a:r>
              <a:rPr lang="en"/>
              <a:t>data-analyst-job-postings-google-search data</a:t>
            </a:r>
            <a:r>
              <a:rPr lang="en"/>
              <a:t> to uncover the most effective strategies for maximizing salary and career progression as a Data Analyst.</a:t>
            </a:r>
            <a:endParaRPr/>
          </a:p>
          <a:p>
            <a:pPr indent="0" lvl="0" marL="0" rtl="0" algn="l">
              <a:lnSpc>
                <a:spcPct val="115000"/>
              </a:lnSpc>
              <a:spcBef>
                <a:spcPts val="1200"/>
              </a:spcBef>
              <a:spcAft>
                <a:spcPts val="1200"/>
              </a:spcAft>
              <a:buNone/>
            </a:pPr>
            <a:r>
              <a:rPr lang="en"/>
              <a:t>By writing SQL queries on a structured dataset of analyst job postings, we examined the impact of technical skills, experience level, and remote work options on compensation.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52225" y="605000"/>
            <a:ext cx="9338400" cy="767700"/>
          </a:xfrm>
          <a:prstGeom prst="rect">
            <a:avLst/>
          </a:prstGeom>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a:t>Who’s paying top dollar for remote data analysts?</a:t>
            </a:r>
            <a:endParaRPr/>
          </a:p>
        </p:txBody>
      </p:sp>
      <p:sp>
        <p:nvSpPr>
          <p:cNvPr id="142" name="Google Shape;142;p22"/>
          <p:cNvSpPr txBox="1"/>
          <p:nvPr>
            <p:ph idx="1" type="body"/>
          </p:nvPr>
        </p:nvSpPr>
        <p:spPr>
          <a:xfrm>
            <a:off x="235950" y="1769650"/>
            <a:ext cx="8222100" cy="437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Remote tech companies offer top compensation</a:t>
            </a:r>
            <a:endParaRPr b="1"/>
          </a:p>
        </p:txBody>
      </p:sp>
      <p:pic>
        <p:nvPicPr>
          <p:cNvPr id="143" name="Google Shape;143;p22"/>
          <p:cNvPicPr preferRelativeResize="0"/>
          <p:nvPr/>
        </p:nvPicPr>
        <p:blipFill>
          <a:blip r:embed="rId3">
            <a:alphaModFix/>
          </a:blip>
          <a:stretch>
            <a:fillRect/>
          </a:stretch>
        </p:blipFill>
        <p:spPr>
          <a:xfrm>
            <a:off x="291550" y="2206750"/>
            <a:ext cx="2476825" cy="2842575"/>
          </a:xfrm>
          <a:prstGeom prst="rect">
            <a:avLst/>
          </a:prstGeom>
          <a:noFill/>
          <a:ln>
            <a:noFill/>
          </a:ln>
        </p:spPr>
      </p:pic>
      <p:sp>
        <p:nvSpPr>
          <p:cNvPr id="144" name="Google Shape;144;p22"/>
          <p:cNvSpPr txBox="1"/>
          <p:nvPr/>
        </p:nvSpPr>
        <p:spPr>
          <a:xfrm>
            <a:off x="3106550" y="2805700"/>
            <a:ext cx="59535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Intent</a:t>
            </a:r>
            <a:r>
              <a:rPr lang="en" sz="1100"/>
              <a:t>: Identify companies offering the highest average salaries for remote Data Analyst roles.</a:t>
            </a:r>
            <a:endParaRPr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 sz="1100"/>
              <a:t>Output</a:t>
            </a:r>
            <a:r>
              <a:rPr lang="en" sz="1100"/>
              <a:t>: </a:t>
            </a:r>
            <a:r>
              <a:rPr lang="en" sz="1100"/>
              <a:t>Firms like GCS, Best Egg offered salaries well above the norm (some &gt;$150K).</a:t>
            </a:r>
            <a:br>
              <a:rPr lang="en" sz="1100"/>
            </a:br>
            <a:endParaRPr sz="1100"/>
          </a:p>
          <a:p>
            <a:pPr indent="0" lvl="0" marL="0" rtl="0" algn="l">
              <a:spcBef>
                <a:spcPts val="0"/>
              </a:spcBef>
              <a:spcAft>
                <a:spcPts val="0"/>
              </a:spcAft>
              <a:buNone/>
            </a:pPr>
            <a:r>
              <a:rPr b="1" lang="en" sz="1100"/>
              <a:t>Relevance</a:t>
            </a:r>
            <a:r>
              <a:rPr lang="en" sz="1100"/>
              <a:t>: Helps job seekers prioritize remote employers in high-paying sectors like fintech and AI.</a:t>
            </a:r>
            <a:br>
              <a:rPr lang="en" sz="1100"/>
            </a:br>
            <a:endParaRPr sz="1100"/>
          </a:p>
          <a:p>
            <a:pPr indent="0" lvl="0" marL="0" rtl="0" algn="l">
              <a:spcBef>
                <a:spcPts val="0"/>
              </a:spcBef>
              <a:spcAft>
                <a:spcPts val="0"/>
              </a:spcAft>
              <a:buNone/>
            </a:pPr>
            <a:r>
              <a:rPr b="1" lang="en" sz="1100"/>
              <a:t>Insight</a:t>
            </a:r>
            <a:r>
              <a:rPr lang="en" sz="1100"/>
              <a:t>: Remote jobs in tech sectors are highly lucrative; targeting these can boost earnings significantly.</a:t>
            </a:r>
            <a:endParaRPr sz="1100"/>
          </a:p>
        </p:txBody>
      </p:sp>
      <p:pic>
        <p:nvPicPr>
          <p:cNvPr id="145" name="Google Shape;145;p22"/>
          <p:cNvPicPr preferRelativeResize="0"/>
          <p:nvPr/>
        </p:nvPicPr>
        <p:blipFill>
          <a:blip r:embed="rId4">
            <a:alphaModFix/>
          </a:blip>
          <a:stretch>
            <a:fillRect/>
          </a:stretch>
        </p:blipFill>
        <p:spPr>
          <a:xfrm>
            <a:off x="5903950" y="1879975"/>
            <a:ext cx="849300" cy="849300"/>
          </a:xfrm>
          <a:prstGeom prst="rect">
            <a:avLst/>
          </a:prstGeom>
          <a:noFill/>
          <a:ln>
            <a:noFill/>
          </a:ln>
        </p:spPr>
      </p:pic>
      <p:pic>
        <p:nvPicPr>
          <p:cNvPr id="146" name="Google Shape;146;p22"/>
          <p:cNvPicPr preferRelativeResize="0"/>
          <p:nvPr/>
        </p:nvPicPr>
        <p:blipFill>
          <a:blip r:embed="rId5">
            <a:alphaModFix/>
          </a:blip>
          <a:stretch>
            <a:fillRect/>
          </a:stretch>
        </p:blipFill>
        <p:spPr>
          <a:xfrm>
            <a:off x="6870913" y="2037524"/>
            <a:ext cx="1020225" cy="534226"/>
          </a:xfrm>
          <a:prstGeom prst="rect">
            <a:avLst/>
          </a:prstGeom>
          <a:noFill/>
          <a:ln>
            <a:noFill/>
          </a:ln>
        </p:spPr>
      </p:pic>
      <p:pic>
        <p:nvPicPr>
          <p:cNvPr id="147" name="Google Shape;147;p22"/>
          <p:cNvPicPr preferRelativeResize="0"/>
          <p:nvPr/>
        </p:nvPicPr>
        <p:blipFill>
          <a:blip r:embed="rId6">
            <a:alphaModFix/>
          </a:blip>
          <a:stretch>
            <a:fillRect/>
          </a:stretch>
        </p:blipFill>
        <p:spPr>
          <a:xfrm>
            <a:off x="7952825" y="1829200"/>
            <a:ext cx="1020227" cy="8299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93250" y="6679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What skills those jobs require?</a:t>
            </a:r>
            <a:endParaRPr/>
          </a:p>
        </p:txBody>
      </p:sp>
      <p:sp>
        <p:nvSpPr>
          <p:cNvPr id="153" name="Google Shape;153;p23"/>
          <p:cNvSpPr txBox="1"/>
          <p:nvPr>
            <p:ph idx="1" type="body"/>
          </p:nvPr>
        </p:nvSpPr>
        <p:spPr>
          <a:xfrm>
            <a:off x="235950" y="1769650"/>
            <a:ext cx="8222100" cy="437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Learn to code or get left behind.</a:t>
            </a:r>
            <a:endParaRPr b="1"/>
          </a:p>
        </p:txBody>
      </p:sp>
      <p:pic>
        <p:nvPicPr>
          <p:cNvPr id="154" name="Google Shape;154;p23"/>
          <p:cNvPicPr preferRelativeResize="0"/>
          <p:nvPr/>
        </p:nvPicPr>
        <p:blipFill>
          <a:blip r:embed="rId3">
            <a:alphaModFix/>
          </a:blip>
          <a:stretch>
            <a:fillRect/>
          </a:stretch>
        </p:blipFill>
        <p:spPr>
          <a:xfrm>
            <a:off x="267425" y="2540776"/>
            <a:ext cx="4179514" cy="1569900"/>
          </a:xfrm>
          <a:prstGeom prst="rect">
            <a:avLst/>
          </a:prstGeom>
          <a:noFill/>
          <a:ln>
            <a:noFill/>
          </a:ln>
        </p:spPr>
      </p:pic>
      <p:sp>
        <p:nvSpPr>
          <p:cNvPr id="155" name="Google Shape;155;p23"/>
          <p:cNvSpPr txBox="1"/>
          <p:nvPr/>
        </p:nvSpPr>
        <p:spPr>
          <a:xfrm>
            <a:off x="4655900" y="2457900"/>
            <a:ext cx="43413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Intent</a:t>
            </a:r>
            <a:r>
              <a:rPr lang="en" sz="1100"/>
              <a:t>: Analyze how specific tools (Python, SQL, Tableau, Excel) influence salary.</a:t>
            </a:r>
            <a:br>
              <a:rPr lang="en" sz="1100"/>
            </a:br>
            <a:endParaRPr sz="1100"/>
          </a:p>
          <a:p>
            <a:pPr indent="0" lvl="0" marL="0" rtl="0" algn="l">
              <a:spcBef>
                <a:spcPts val="0"/>
              </a:spcBef>
              <a:spcAft>
                <a:spcPts val="0"/>
              </a:spcAft>
              <a:buNone/>
            </a:pPr>
            <a:r>
              <a:rPr b="1" lang="en" sz="1100"/>
              <a:t>Output</a:t>
            </a:r>
            <a:r>
              <a:rPr lang="en" sz="1100"/>
              <a:t>: Python commands the highest average salary ($72K), while Excel lags far behind ($25K).</a:t>
            </a:r>
            <a:br>
              <a:rPr lang="en" sz="1100"/>
            </a:br>
            <a:endParaRPr sz="1100"/>
          </a:p>
          <a:p>
            <a:pPr indent="0" lvl="0" marL="0" rtl="0" algn="l">
              <a:spcBef>
                <a:spcPts val="0"/>
              </a:spcBef>
              <a:spcAft>
                <a:spcPts val="0"/>
              </a:spcAft>
              <a:buNone/>
            </a:pPr>
            <a:r>
              <a:rPr b="1" lang="en" sz="1100"/>
              <a:t>Relevance</a:t>
            </a:r>
            <a:r>
              <a:rPr lang="en" sz="1100"/>
              <a:t>: Guides skill development and certification decisions for job seekers.</a:t>
            </a:r>
            <a:br>
              <a:rPr lang="en" sz="1100"/>
            </a:br>
            <a:endParaRPr sz="1100"/>
          </a:p>
          <a:p>
            <a:pPr indent="0" lvl="0" marL="0" rtl="0" algn="l">
              <a:spcBef>
                <a:spcPts val="0"/>
              </a:spcBef>
              <a:spcAft>
                <a:spcPts val="0"/>
              </a:spcAft>
              <a:buNone/>
            </a:pPr>
            <a:r>
              <a:rPr b="1" lang="en" sz="1100"/>
              <a:t>Insight</a:t>
            </a:r>
            <a:r>
              <a:rPr lang="en" sz="1100"/>
              <a:t>: Advanced technical skills, especially in Python, directly correlate with higher compensation.</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330325" y="738725"/>
            <a:ext cx="86355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do skill expectations change as you move up?</a:t>
            </a:r>
            <a:endParaRPr/>
          </a:p>
        </p:txBody>
      </p:sp>
      <p:sp>
        <p:nvSpPr>
          <p:cNvPr id="161" name="Google Shape;161;p24"/>
          <p:cNvSpPr txBox="1"/>
          <p:nvPr>
            <p:ph idx="1" type="body"/>
          </p:nvPr>
        </p:nvSpPr>
        <p:spPr>
          <a:xfrm>
            <a:off x="235950" y="1769650"/>
            <a:ext cx="8222100" cy="437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If you want to get promoted, your technical stack has to level up too</a:t>
            </a:r>
            <a:endParaRPr b="1"/>
          </a:p>
        </p:txBody>
      </p:sp>
      <p:pic>
        <p:nvPicPr>
          <p:cNvPr id="162" name="Google Shape;162;p24"/>
          <p:cNvPicPr preferRelativeResize="0"/>
          <p:nvPr/>
        </p:nvPicPr>
        <p:blipFill>
          <a:blip r:embed="rId3">
            <a:alphaModFix/>
          </a:blip>
          <a:stretch>
            <a:fillRect/>
          </a:stretch>
        </p:blipFill>
        <p:spPr>
          <a:xfrm>
            <a:off x="330325" y="2283500"/>
            <a:ext cx="7648976" cy="1200550"/>
          </a:xfrm>
          <a:prstGeom prst="rect">
            <a:avLst/>
          </a:prstGeom>
          <a:noFill/>
          <a:ln>
            <a:noFill/>
          </a:ln>
        </p:spPr>
      </p:pic>
      <p:sp>
        <p:nvSpPr>
          <p:cNvPr id="163" name="Google Shape;163;p24"/>
          <p:cNvSpPr txBox="1"/>
          <p:nvPr/>
        </p:nvSpPr>
        <p:spPr>
          <a:xfrm>
            <a:off x="207000" y="3675800"/>
            <a:ext cx="87300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Intent</a:t>
            </a:r>
            <a:r>
              <a:rPr lang="en" sz="1100"/>
              <a:t>: Assess how required skills shift across Junior, Mid, and Senior Data Analyst roles.</a:t>
            </a:r>
            <a:br>
              <a:rPr lang="en" sz="1100"/>
            </a:br>
            <a:endParaRPr sz="1100"/>
          </a:p>
          <a:p>
            <a:pPr indent="0" lvl="0" marL="0" rtl="0" algn="l">
              <a:spcBef>
                <a:spcPts val="0"/>
              </a:spcBef>
              <a:spcAft>
                <a:spcPts val="0"/>
              </a:spcAft>
              <a:buNone/>
            </a:pPr>
            <a:r>
              <a:rPr b="1" lang="en" sz="1100"/>
              <a:t>Output</a:t>
            </a:r>
            <a:r>
              <a:rPr lang="en" sz="1100"/>
              <a:t>: SQL demand rises from </a:t>
            </a:r>
            <a:r>
              <a:rPr lang="en" sz="1100"/>
              <a:t>38.1</a:t>
            </a:r>
            <a:r>
              <a:rPr lang="en" sz="1100"/>
              <a:t>% (Junior) to </a:t>
            </a:r>
            <a:r>
              <a:rPr lang="en" sz="1100"/>
              <a:t>61.9</a:t>
            </a:r>
            <a:r>
              <a:rPr lang="en" sz="1100"/>
              <a:t>% (Senior); Python from </a:t>
            </a:r>
            <a:r>
              <a:rPr lang="en" sz="1100"/>
              <a:t>31.2</a:t>
            </a:r>
            <a:r>
              <a:rPr lang="en" sz="1100"/>
              <a:t>% to </a:t>
            </a:r>
            <a:r>
              <a:rPr lang="en" sz="1100"/>
              <a:t>37.6</a:t>
            </a:r>
            <a:r>
              <a:rPr lang="en" sz="1100"/>
              <a:t>%.</a:t>
            </a:r>
            <a:br>
              <a:rPr lang="en" sz="1100"/>
            </a:br>
            <a:endParaRPr sz="1100"/>
          </a:p>
          <a:p>
            <a:pPr indent="0" lvl="0" marL="0" rtl="0" algn="l">
              <a:spcBef>
                <a:spcPts val="0"/>
              </a:spcBef>
              <a:spcAft>
                <a:spcPts val="0"/>
              </a:spcAft>
              <a:buNone/>
            </a:pPr>
            <a:r>
              <a:rPr b="1" lang="en" sz="1100"/>
              <a:t>Relevance</a:t>
            </a:r>
            <a:r>
              <a:rPr lang="en" sz="1100"/>
              <a:t>: Helps professionals map career growth with needed skill evolution.</a:t>
            </a:r>
            <a:br>
              <a:rPr lang="en" sz="1100"/>
            </a:br>
            <a:endParaRPr sz="1100"/>
          </a:p>
          <a:p>
            <a:pPr indent="0" lvl="0" marL="0" rtl="0" algn="l">
              <a:spcBef>
                <a:spcPts val="0"/>
              </a:spcBef>
              <a:spcAft>
                <a:spcPts val="0"/>
              </a:spcAft>
              <a:buNone/>
            </a:pPr>
            <a:r>
              <a:rPr b="1" lang="en" sz="1100"/>
              <a:t>Insight</a:t>
            </a:r>
            <a:r>
              <a:rPr lang="en" sz="1100"/>
              <a:t>: SQL remains the cornerstone at all levels; Excel fades with advancement.</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125875" y="707250"/>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a:t>
            </a:r>
            <a:r>
              <a:rPr lang="en"/>
              <a:t>hat happens if I combine high-value skills?</a:t>
            </a:r>
            <a:endParaRPr/>
          </a:p>
        </p:txBody>
      </p:sp>
      <p:sp>
        <p:nvSpPr>
          <p:cNvPr id="169" name="Google Shape;169;p25"/>
          <p:cNvSpPr txBox="1"/>
          <p:nvPr>
            <p:ph idx="1" type="body"/>
          </p:nvPr>
        </p:nvSpPr>
        <p:spPr>
          <a:xfrm>
            <a:off x="235950" y="1769650"/>
            <a:ext cx="8222100" cy="437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It’s not just about one skill—it’s about the right combination.</a:t>
            </a:r>
            <a:endParaRPr b="1"/>
          </a:p>
        </p:txBody>
      </p:sp>
      <p:pic>
        <p:nvPicPr>
          <p:cNvPr id="170" name="Google Shape;170;p25"/>
          <p:cNvPicPr preferRelativeResize="0"/>
          <p:nvPr/>
        </p:nvPicPr>
        <p:blipFill>
          <a:blip r:embed="rId3">
            <a:alphaModFix/>
          </a:blip>
          <a:stretch>
            <a:fillRect/>
          </a:stretch>
        </p:blipFill>
        <p:spPr>
          <a:xfrm>
            <a:off x="176425" y="2571750"/>
            <a:ext cx="4535475" cy="1652775"/>
          </a:xfrm>
          <a:prstGeom prst="rect">
            <a:avLst/>
          </a:prstGeom>
          <a:noFill/>
          <a:ln>
            <a:noFill/>
          </a:ln>
        </p:spPr>
      </p:pic>
      <p:sp>
        <p:nvSpPr>
          <p:cNvPr id="171" name="Google Shape;171;p25"/>
          <p:cNvSpPr txBox="1"/>
          <p:nvPr/>
        </p:nvSpPr>
        <p:spPr>
          <a:xfrm>
            <a:off x="4816625" y="2501450"/>
            <a:ext cx="41727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Intent</a:t>
            </a:r>
            <a:r>
              <a:rPr lang="en" sz="1100"/>
              <a:t>: Quantify salary benefits of combining skills (e.g., Python + SQL vs. single skills).</a:t>
            </a:r>
            <a:br>
              <a:rPr lang="en" sz="1100"/>
            </a:br>
            <a:endParaRPr sz="1100"/>
          </a:p>
          <a:p>
            <a:pPr indent="0" lvl="0" marL="0" rtl="0" algn="l">
              <a:spcBef>
                <a:spcPts val="0"/>
              </a:spcBef>
              <a:spcAft>
                <a:spcPts val="0"/>
              </a:spcAft>
              <a:buNone/>
            </a:pPr>
            <a:r>
              <a:rPr b="1" lang="en" sz="1100"/>
              <a:t>Output</a:t>
            </a:r>
            <a:r>
              <a:rPr lang="en" sz="1100"/>
              <a:t>: Python+SQL pays $67K (vs. $24K single-skill jobs), with a $32K premium over the market average.</a:t>
            </a:r>
            <a:br>
              <a:rPr lang="en" sz="1100"/>
            </a:br>
            <a:endParaRPr sz="1100"/>
          </a:p>
          <a:p>
            <a:pPr indent="0" lvl="0" marL="0" rtl="0" algn="l">
              <a:spcBef>
                <a:spcPts val="0"/>
              </a:spcBef>
              <a:spcAft>
                <a:spcPts val="0"/>
              </a:spcAft>
              <a:buNone/>
            </a:pPr>
            <a:r>
              <a:rPr b="1" lang="en" sz="1100"/>
              <a:t>Relevance</a:t>
            </a:r>
            <a:r>
              <a:rPr lang="en" sz="1100"/>
              <a:t>: Proves the value of bundling high-demand skills for salary boosts.</a:t>
            </a:r>
            <a:br>
              <a:rPr lang="en" sz="1100"/>
            </a:br>
            <a:endParaRPr sz="1100"/>
          </a:p>
          <a:p>
            <a:pPr indent="0" lvl="0" marL="0" rtl="0" algn="l">
              <a:spcBef>
                <a:spcPts val="0"/>
              </a:spcBef>
              <a:spcAft>
                <a:spcPts val="0"/>
              </a:spcAft>
              <a:buNone/>
            </a:pPr>
            <a:r>
              <a:rPr b="1" lang="en" sz="1100"/>
              <a:t>Insight</a:t>
            </a:r>
            <a:r>
              <a:rPr lang="en" sz="1100"/>
              <a:t>: Composite skills dominate salary leaders; upskilling is financially strategic.</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0" y="667950"/>
            <a:ext cx="92883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
            </a:r>
            <a:r>
              <a:rPr lang="en"/>
              <a:t>oes working remotely affect the skill premium?</a:t>
            </a:r>
            <a:endParaRPr/>
          </a:p>
        </p:txBody>
      </p:sp>
      <p:sp>
        <p:nvSpPr>
          <p:cNvPr id="177" name="Google Shape;177;p26"/>
          <p:cNvSpPr txBox="1"/>
          <p:nvPr>
            <p:ph idx="1" type="body"/>
          </p:nvPr>
        </p:nvSpPr>
        <p:spPr>
          <a:xfrm>
            <a:off x="235950" y="1769650"/>
            <a:ext cx="8222100" cy="437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Remote work isn’t just flexible—it’s profitable.</a:t>
            </a:r>
            <a:endParaRPr b="1"/>
          </a:p>
        </p:txBody>
      </p:sp>
      <p:sp>
        <p:nvSpPr>
          <p:cNvPr id="178" name="Google Shape;178;p26"/>
          <p:cNvSpPr txBox="1"/>
          <p:nvPr/>
        </p:nvSpPr>
        <p:spPr>
          <a:xfrm>
            <a:off x="4883975" y="2433225"/>
            <a:ext cx="39843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Intent</a:t>
            </a:r>
            <a:r>
              <a:rPr lang="en" sz="1100"/>
              <a:t>: Determine how remote status amplifies salary based on skill set.</a:t>
            </a:r>
            <a:br>
              <a:rPr lang="en" sz="1100"/>
            </a:br>
            <a:endParaRPr sz="1100"/>
          </a:p>
          <a:p>
            <a:pPr indent="0" lvl="0" marL="0" rtl="0" algn="l">
              <a:spcBef>
                <a:spcPts val="0"/>
              </a:spcBef>
              <a:spcAft>
                <a:spcPts val="0"/>
              </a:spcAft>
              <a:buNone/>
            </a:pPr>
            <a:r>
              <a:rPr b="1" lang="en" sz="1100"/>
              <a:t>Output</a:t>
            </a:r>
            <a:r>
              <a:rPr lang="en" sz="1100"/>
              <a:t>: Python+SQL remote roles pay 12% more than onsite; BI tools have a 62% remote premium.</a:t>
            </a:r>
            <a:br>
              <a:rPr lang="en" sz="1100"/>
            </a:br>
            <a:endParaRPr sz="1100"/>
          </a:p>
          <a:p>
            <a:pPr indent="0" lvl="0" marL="0" rtl="0" algn="l">
              <a:spcBef>
                <a:spcPts val="0"/>
              </a:spcBef>
              <a:spcAft>
                <a:spcPts val="0"/>
              </a:spcAft>
              <a:buNone/>
            </a:pPr>
            <a:r>
              <a:rPr b="1" lang="en" sz="1100"/>
              <a:t>Relevance</a:t>
            </a:r>
            <a:r>
              <a:rPr lang="en" sz="1100"/>
              <a:t>: Informs work arrangement preferences (remote vs onsite).</a:t>
            </a:r>
            <a:br>
              <a:rPr lang="en" sz="1100"/>
            </a:br>
            <a:endParaRPr sz="1100"/>
          </a:p>
          <a:p>
            <a:pPr indent="0" lvl="0" marL="0" rtl="0" algn="l">
              <a:spcBef>
                <a:spcPts val="0"/>
              </a:spcBef>
              <a:spcAft>
                <a:spcPts val="0"/>
              </a:spcAft>
              <a:buNone/>
            </a:pPr>
            <a:r>
              <a:rPr b="1" lang="en" sz="1100"/>
              <a:t>Insight</a:t>
            </a:r>
            <a:r>
              <a:rPr lang="en" sz="1100"/>
              <a:t>: Remote roles offer outsized salary premiums—especially for visualization skill sets.</a:t>
            </a:r>
            <a:endParaRPr sz="1100"/>
          </a:p>
        </p:txBody>
      </p:sp>
      <p:pic>
        <p:nvPicPr>
          <p:cNvPr id="179" name="Google Shape;179;p26"/>
          <p:cNvPicPr preferRelativeResize="0"/>
          <p:nvPr/>
        </p:nvPicPr>
        <p:blipFill>
          <a:blip r:embed="rId3">
            <a:alphaModFix/>
          </a:blip>
          <a:stretch>
            <a:fillRect/>
          </a:stretch>
        </p:blipFill>
        <p:spPr>
          <a:xfrm>
            <a:off x="291000" y="2694350"/>
            <a:ext cx="4500125" cy="1466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401125" y="6522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Turning Insights Into Action</a:t>
            </a:r>
            <a:endParaRPr/>
          </a:p>
        </p:txBody>
      </p:sp>
      <p:sp>
        <p:nvSpPr>
          <p:cNvPr id="185" name="Google Shape;185;p27"/>
          <p:cNvSpPr txBox="1"/>
          <p:nvPr>
            <p:ph idx="1" type="body"/>
          </p:nvPr>
        </p:nvSpPr>
        <p:spPr>
          <a:xfrm>
            <a:off x="235950" y="1769650"/>
            <a:ext cx="8222100" cy="437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n"/>
              <a:t>Best Path</a:t>
            </a:r>
            <a:endParaRPr b="1"/>
          </a:p>
        </p:txBody>
      </p:sp>
      <p:sp>
        <p:nvSpPr>
          <p:cNvPr id="186" name="Google Shape;186;p27"/>
          <p:cNvSpPr txBox="1"/>
          <p:nvPr/>
        </p:nvSpPr>
        <p:spPr>
          <a:xfrm>
            <a:off x="235950" y="2393725"/>
            <a:ext cx="4808100" cy="1908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rPr>
              <a:t>Master </a:t>
            </a:r>
            <a:r>
              <a:rPr b="1" lang="en" sz="1600">
                <a:solidFill>
                  <a:schemeClr val="dk1"/>
                </a:solidFill>
              </a:rPr>
              <a:t>Python + SQL</a:t>
            </a:r>
            <a:r>
              <a:rPr b="1" lang="en" sz="1600">
                <a:solidFill>
                  <a:schemeClr val="dk1"/>
                </a:solidFill>
              </a:rPr>
              <a:t>+BI</a:t>
            </a:r>
            <a:endParaRPr b="1" sz="1600">
              <a:solidFill>
                <a:schemeClr val="dk1"/>
              </a:solidFill>
            </a:endParaRPr>
          </a:p>
          <a:p>
            <a:pPr indent="0" lvl="0" marL="0" rtl="0" algn="l">
              <a:spcBef>
                <a:spcPts val="0"/>
              </a:spcBef>
              <a:spcAft>
                <a:spcPts val="0"/>
              </a:spcAft>
              <a:buNone/>
            </a:pPr>
            <a:r>
              <a:rPr b="1" lang="en" sz="1600">
                <a:solidFill>
                  <a:schemeClr val="dk1"/>
                </a:solidFill>
              </a:rPr>
              <a:t>              ↓</a:t>
            </a:r>
            <a:r>
              <a:rPr b="1" lang="en" sz="1600">
                <a:solidFill>
                  <a:schemeClr val="dk1"/>
                </a:solidFill>
              </a:rPr>
              <a:t> </a:t>
            </a:r>
            <a:endParaRPr b="1" sz="1600">
              <a:solidFill>
                <a:schemeClr val="dk1"/>
              </a:solidFill>
            </a:endParaRPr>
          </a:p>
          <a:p>
            <a:pPr indent="0" lvl="0" marL="0" rtl="0" algn="l">
              <a:spcBef>
                <a:spcPts val="0"/>
              </a:spcBef>
              <a:spcAft>
                <a:spcPts val="0"/>
              </a:spcAft>
              <a:buNone/>
            </a:pPr>
            <a:r>
              <a:rPr b="1" lang="en" sz="1600">
                <a:solidFill>
                  <a:schemeClr val="dk1"/>
                </a:solidFill>
              </a:rPr>
              <a:t>Advance to Senior Level </a:t>
            </a:r>
            <a:endParaRPr b="1" sz="1600">
              <a:solidFill>
                <a:schemeClr val="dk1"/>
              </a:solidFill>
            </a:endParaRPr>
          </a:p>
          <a:p>
            <a:pPr indent="0" lvl="0" marL="0" rtl="0" algn="l">
              <a:spcBef>
                <a:spcPts val="0"/>
              </a:spcBef>
              <a:spcAft>
                <a:spcPts val="0"/>
              </a:spcAft>
              <a:buNone/>
            </a:pPr>
            <a:r>
              <a:rPr b="1" lang="en" sz="1600">
                <a:solidFill>
                  <a:schemeClr val="dk1"/>
                </a:solidFill>
              </a:rPr>
              <a:t>              </a:t>
            </a:r>
            <a:r>
              <a:rPr b="1" lang="en" sz="1600">
                <a:solidFill>
                  <a:schemeClr val="dk1"/>
                </a:solidFill>
              </a:rPr>
              <a:t>↓ </a:t>
            </a:r>
            <a:endParaRPr b="1" sz="1600">
              <a:solidFill>
                <a:schemeClr val="dk1"/>
              </a:solidFill>
            </a:endParaRPr>
          </a:p>
          <a:p>
            <a:pPr indent="0" lvl="0" marL="0" rtl="0" algn="l">
              <a:spcBef>
                <a:spcPts val="0"/>
              </a:spcBef>
              <a:spcAft>
                <a:spcPts val="0"/>
              </a:spcAft>
              <a:buNone/>
            </a:pPr>
            <a:r>
              <a:rPr b="1" lang="en" sz="1600">
                <a:solidFill>
                  <a:schemeClr val="dk1"/>
                </a:solidFill>
              </a:rPr>
              <a:t>Find Remote Positions</a:t>
            </a:r>
            <a:endParaRPr b="1" sz="1600">
              <a:solidFill>
                <a:schemeClr val="dk1"/>
              </a:solidFill>
            </a:endParaRPr>
          </a:p>
          <a:p>
            <a:pPr indent="0" lvl="0" marL="0" rtl="0" algn="l">
              <a:spcBef>
                <a:spcPts val="0"/>
              </a:spcBef>
              <a:spcAft>
                <a:spcPts val="0"/>
              </a:spcAft>
              <a:buNone/>
            </a:pPr>
            <a:r>
              <a:rPr b="1" lang="en" sz="1600">
                <a:solidFill>
                  <a:schemeClr val="dk1"/>
                </a:solidFill>
              </a:rPr>
              <a:t>              </a:t>
            </a:r>
            <a:r>
              <a:rPr b="1" lang="en" sz="1600">
                <a:solidFill>
                  <a:schemeClr val="dk1"/>
                </a:solidFill>
              </a:rPr>
              <a:t>↓ </a:t>
            </a:r>
            <a:endParaRPr b="1" sz="1600">
              <a:solidFill>
                <a:schemeClr val="dk1"/>
              </a:solidFill>
            </a:endParaRPr>
          </a:p>
          <a:p>
            <a:pPr indent="0" lvl="0" marL="0" rtl="0" algn="l">
              <a:spcBef>
                <a:spcPts val="0"/>
              </a:spcBef>
              <a:spcAft>
                <a:spcPts val="0"/>
              </a:spcAft>
              <a:buNone/>
            </a:pPr>
            <a:r>
              <a:rPr b="1" lang="en" sz="1600">
                <a:solidFill>
                  <a:schemeClr val="dk1"/>
                </a:solidFill>
              </a:rPr>
              <a:t>Maximize High Salary (&gt;$150K)</a:t>
            </a:r>
            <a:endParaRPr b="1" sz="1600">
              <a:solidFill>
                <a:schemeClr val="dk1"/>
              </a:solidFill>
            </a:endParaRPr>
          </a:p>
        </p:txBody>
      </p:sp>
      <p:pic>
        <p:nvPicPr>
          <p:cNvPr id="187" name="Google Shape;187;p27"/>
          <p:cNvPicPr preferRelativeResize="0"/>
          <p:nvPr/>
        </p:nvPicPr>
        <p:blipFill>
          <a:blip r:embed="rId3">
            <a:alphaModFix/>
          </a:blip>
          <a:stretch>
            <a:fillRect/>
          </a:stretch>
        </p:blipFill>
        <p:spPr>
          <a:xfrm>
            <a:off x="4926023" y="2206750"/>
            <a:ext cx="3697200" cy="215361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Skills  Developed</a:t>
            </a:r>
            <a:endParaRPr/>
          </a:p>
        </p:txBody>
      </p:sp>
      <p:sp>
        <p:nvSpPr>
          <p:cNvPr id="193" name="Google Shape;193;p28"/>
          <p:cNvSpPr txBox="1"/>
          <p:nvPr>
            <p:ph idx="1" type="body"/>
          </p:nvPr>
        </p:nvSpPr>
        <p:spPr>
          <a:xfrm>
            <a:off x="330350" y="2029175"/>
            <a:ext cx="5780400" cy="2634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950">
                <a:solidFill>
                  <a:srgbClr val="000000"/>
                </a:solidFill>
                <a:latin typeface="Arial"/>
                <a:ea typeface="Arial"/>
                <a:cs typeface="Arial"/>
                <a:sym typeface="Arial"/>
              </a:rPr>
              <a:t>Advanced SQL Techniques:</a:t>
            </a:r>
            <a:br>
              <a:rPr b="1" lang="en" sz="950">
                <a:solidFill>
                  <a:srgbClr val="000000"/>
                </a:solidFill>
                <a:latin typeface="Arial"/>
                <a:ea typeface="Arial"/>
                <a:cs typeface="Arial"/>
                <a:sym typeface="Arial"/>
              </a:rPr>
            </a:br>
            <a:r>
              <a:rPr lang="en" sz="950">
                <a:solidFill>
                  <a:srgbClr val="000000"/>
                </a:solidFill>
                <a:latin typeface="Arial"/>
                <a:ea typeface="Arial"/>
                <a:cs typeface="Arial"/>
                <a:sym typeface="Arial"/>
              </a:rPr>
              <a:t> Used </a:t>
            </a:r>
            <a:r>
              <a:rPr lang="en" sz="950">
                <a:solidFill>
                  <a:srgbClr val="188038"/>
                </a:solidFill>
                <a:latin typeface="Roboto Mono"/>
                <a:ea typeface="Roboto Mono"/>
                <a:cs typeface="Roboto Mono"/>
                <a:sym typeface="Roboto Mono"/>
              </a:rPr>
              <a:t>CASE</a:t>
            </a:r>
            <a:r>
              <a:rPr lang="en" sz="950">
                <a:solidFill>
                  <a:srgbClr val="000000"/>
                </a:solidFill>
                <a:latin typeface="Arial"/>
                <a:ea typeface="Arial"/>
                <a:cs typeface="Arial"/>
                <a:sym typeface="Arial"/>
              </a:rPr>
              <a:t>, </a:t>
            </a:r>
            <a:r>
              <a:rPr lang="en" sz="950">
                <a:solidFill>
                  <a:srgbClr val="188038"/>
                </a:solidFill>
                <a:latin typeface="Roboto Mono"/>
                <a:ea typeface="Roboto Mono"/>
                <a:cs typeface="Roboto Mono"/>
                <a:sym typeface="Roboto Mono"/>
              </a:rPr>
              <a:t>CTE</a:t>
            </a:r>
            <a:r>
              <a:rPr lang="en" sz="950">
                <a:solidFill>
                  <a:srgbClr val="000000"/>
                </a:solidFill>
                <a:latin typeface="Arial"/>
                <a:ea typeface="Arial"/>
                <a:cs typeface="Arial"/>
                <a:sym typeface="Arial"/>
              </a:rPr>
              <a:t>, </a:t>
            </a:r>
            <a:r>
              <a:rPr lang="en" sz="950">
                <a:solidFill>
                  <a:srgbClr val="188038"/>
                </a:solidFill>
                <a:latin typeface="Roboto Mono"/>
                <a:ea typeface="Roboto Mono"/>
                <a:cs typeface="Roboto Mono"/>
                <a:sym typeface="Roboto Mono"/>
              </a:rPr>
              <a:t>GROUP BY</a:t>
            </a:r>
            <a:r>
              <a:rPr lang="en" sz="950">
                <a:solidFill>
                  <a:srgbClr val="000000"/>
                </a:solidFill>
                <a:latin typeface="Arial"/>
                <a:ea typeface="Arial"/>
                <a:cs typeface="Arial"/>
                <a:sym typeface="Arial"/>
              </a:rPr>
              <a:t>, </a:t>
            </a:r>
            <a:r>
              <a:rPr lang="en" sz="950">
                <a:solidFill>
                  <a:srgbClr val="188038"/>
                </a:solidFill>
                <a:latin typeface="Roboto Mono"/>
                <a:ea typeface="Roboto Mono"/>
                <a:cs typeface="Roboto Mono"/>
                <a:sym typeface="Roboto Mono"/>
              </a:rPr>
              <a:t>JOIN</a:t>
            </a:r>
            <a:r>
              <a:rPr lang="en" sz="950">
                <a:solidFill>
                  <a:srgbClr val="000000"/>
                </a:solidFill>
                <a:latin typeface="Arial"/>
                <a:ea typeface="Arial"/>
                <a:cs typeface="Arial"/>
                <a:sym typeface="Arial"/>
              </a:rPr>
              <a:t>, and window functions like </a:t>
            </a:r>
            <a:r>
              <a:rPr lang="en" sz="950">
                <a:solidFill>
                  <a:srgbClr val="188038"/>
                </a:solidFill>
                <a:latin typeface="Roboto Mono"/>
                <a:ea typeface="Roboto Mono"/>
                <a:cs typeface="Roboto Mono"/>
                <a:sym typeface="Roboto Mono"/>
              </a:rPr>
              <a:t>LAG()</a:t>
            </a:r>
            <a:r>
              <a:rPr lang="en" sz="950">
                <a:solidFill>
                  <a:srgbClr val="000000"/>
                </a:solidFill>
                <a:latin typeface="Arial"/>
                <a:ea typeface="Arial"/>
                <a:cs typeface="Arial"/>
                <a:sym typeface="Arial"/>
              </a:rPr>
              <a:t> to calculate salary premiums, skill demand trends, and market benchmarks.</a:t>
            </a:r>
            <a:endParaRPr sz="950">
              <a:solidFill>
                <a:srgbClr val="000000"/>
              </a:solidFill>
              <a:latin typeface="Arial"/>
              <a:ea typeface="Arial"/>
              <a:cs typeface="Arial"/>
              <a:sym typeface="Arial"/>
            </a:endParaRPr>
          </a:p>
          <a:p>
            <a:pPr indent="0" lvl="0" marL="0" rtl="0" algn="l">
              <a:spcBef>
                <a:spcPts val="1200"/>
              </a:spcBef>
              <a:spcAft>
                <a:spcPts val="0"/>
              </a:spcAft>
              <a:buNone/>
            </a:pPr>
            <a:r>
              <a:rPr b="1" lang="en" sz="950">
                <a:solidFill>
                  <a:srgbClr val="000000"/>
                </a:solidFill>
                <a:latin typeface="Arial"/>
                <a:ea typeface="Arial"/>
                <a:cs typeface="Arial"/>
                <a:sym typeface="Arial"/>
              </a:rPr>
              <a:t>Data Modeling &amp; Structuring:</a:t>
            </a:r>
            <a:br>
              <a:rPr b="1" lang="en" sz="950">
                <a:solidFill>
                  <a:srgbClr val="000000"/>
                </a:solidFill>
                <a:latin typeface="Arial"/>
                <a:ea typeface="Arial"/>
                <a:cs typeface="Arial"/>
                <a:sym typeface="Arial"/>
              </a:rPr>
            </a:br>
            <a:r>
              <a:rPr lang="en" sz="950">
                <a:solidFill>
                  <a:srgbClr val="000000"/>
                </a:solidFill>
                <a:latin typeface="Arial"/>
                <a:ea typeface="Arial"/>
                <a:cs typeface="Arial"/>
                <a:sym typeface="Arial"/>
              </a:rPr>
              <a:t> Designed multi-step SQL logic using common table expressions to organize job listing data by skill, seniority, and work format.</a:t>
            </a:r>
            <a:endParaRPr sz="950">
              <a:solidFill>
                <a:srgbClr val="000000"/>
              </a:solidFill>
              <a:latin typeface="Arial"/>
              <a:ea typeface="Arial"/>
              <a:cs typeface="Arial"/>
              <a:sym typeface="Arial"/>
            </a:endParaRPr>
          </a:p>
          <a:p>
            <a:pPr indent="0" lvl="0" marL="0" rtl="0" algn="l">
              <a:spcBef>
                <a:spcPts val="1200"/>
              </a:spcBef>
              <a:spcAft>
                <a:spcPts val="0"/>
              </a:spcAft>
              <a:buNone/>
            </a:pPr>
            <a:r>
              <a:rPr b="1" lang="en" sz="950">
                <a:solidFill>
                  <a:srgbClr val="000000"/>
                </a:solidFill>
                <a:latin typeface="Arial"/>
                <a:ea typeface="Arial"/>
                <a:cs typeface="Arial"/>
                <a:sym typeface="Arial"/>
              </a:rPr>
              <a:t>Statistical Insight Extraction:</a:t>
            </a:r>
            <a:br>
              <a:rPr b="1" lang="en" sz="950">
                <a:solidFill>
                  <a:srgbClr val="000000"/>
                </a:solidFill>
                <a:latin typeface="Arial"/>
                <a:ea typeface="Arial"/>
                <a:cs typeface="Arial"/>
                <a:sym typeface="Arial"/>
              </a:rPr>
            </a:br>
            <a:r>
              <a:rPr lang="en" sz="950">
                <a:solidFill>
                  <a:srgbClr val="000000"/>
                </a:solidFill>
                <a:latin typeface="Arial"/>
                <a:ea typeface="Arial"/>
                <a:cs typeface="Arial"/>
                <a:sym typeface="Arial"/>
              </a:rPr>
              <a:t> Calculated averages, salary differentials, and percentage premiums to evaluate how technical skills and remote work affect compensation.</a:t>
            </a:r>
            <a:endParaRPr sz="950">
              <a:solidFill>
                <a:srgbClr val="000000"/>
              </a:solidFill>
              <a:latin typeface="Arial"/>
              <a:ea typeface="Arial"/>
              <a:cs typeface="Arial"/>
              <a:sym typeface="Arial"/>
            </a:endParaRPr>
          </a:p>
          <a:p>
            <a:pPr indent="0" lvl="0" marL="0" rtl="0" algn="l">
              <a:spcBef>
                <a:spcPts val="1200"/>
              </a:spcBef>
              <a:spcAft>
                <a:spcPts val="1200"/>
              </a:spcAft>
              <a:buNone/>
            </a:pPr>
            <a:r>
              <a:rPr b="1" lang="en" sz="950">
                <a:solidFill>
                  <a:srgbClr val="000000"/>
                </a:solidFill>
                <a:latin typeface="Arial"/>
                <a:ea typeface="Arial"/>
                <a:cs typeface="Arial"/>
                <a:sym typeface="Arial"/>
              </a:rPr>
              <a:t>Career Strategy Framing:</a:t>
            </a:r>
            <a:br>
              <a:rPr b="1" lang="en" sz="950">
                <a:solidFill>
                  <a:srgbClr val="000000"/>
                </a:solidFill>
                <a:latin typeface="Arial"/>
                <a:ea typeface="Arial"/>
                <a:cs typeface="Arial"/>
                <a:sym typeface="Arial"/>
              </a:rPr>
            </a:br>
            <a:r>
              <a:rPr lang="en" sz="950">
                <a:solidFill>
                  <a:srgbClr val="000000"/>
                </a:solidFill>
                <a:latin typeface="Arial"/>
                <a:ea typeface="Arial"/>
                <a:cs typeface="Arial"/>
                <a:sym typeface="Arial"/>
              </a:rPr>
              <a:t> Translated raw job post data into practical insights for career decision-making — including skill combinations, promotion paths, and remote advantages.</a:t>
            </a:r>
            <a:endParaRPr sz="950"/>
          </a:p>
        </p:txBody>
      </p:sp>
      <p:pic>
        <p:nvPicPr>
          <p:cNvPr id="194" name="Google Shape;194;p28" title="Skills Developed.jpg"/>
          <p:cNvPicPr preferRelativeResize="0"/>
          <p:nvPr/>
        </p:nvPicPr>
        <p:blipFill>
          <a:blip r:embed="rId3">
            <a:alphaModFix/>
          </a:blip>
          <a:stretch>
            <a:fillRect/>
          </a:stretch>
        </p:blipFill>
        <p:spPr>
          <a:xfrm>
            <a:off x="6497350" y="2281725"/>
            <a:ext cx="2196650" cy="2196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460950" y="605575"/>
            <a:ext cx="8222100" cy="673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Mini Project #3  Part 1</a:t>
            </a:r>
            <a:endParaRPr/>
          </a:p>
        </p:txBody>
      </p:sp>
      <p:sp>
        <p:nvSpPr>
          <p:cNvPr id="200" name="Google Shape;200;p29"/>
          <p:cNvSpPr txBox="1"/>
          <p:nvPr>
            <p:ph idx="1" type="body"/>
          </p:nvPr>
        </p:nvSpPr>
        <p:spPr>
          <a:xfrm>
            <a:off x="6121925" y="2396825"/>
            <a:ext cx="2774100" cy="180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0000"/>
                </a:solidFill>
              </a:rPr>
              <a:t>What are the popular and underrated high-potential restaurants in Boston?</a:t>
            </a:r>
            <a:endParaRPr>
              <a:solidFill>
                <a:srgbClr val="000000"/>
              </a:solidFill>
            </a:endParaRPr>
          </a:p>
        </p:txBody>
      </p:sp>
      <p:pic>
        <p:nvPicPr>
          <p:cNvPr id="201" name="Google Shape;201;p29"/>
          <p:cNvPicPr preferRelativeResize="0"/>
          <p:nvPr/>
        </p:nvPicPr>
        <p:blipFill>
          <a:blip r:embed="rId3">
            <a:alphaModFix/>
          </a:blip>
          <a:stretch>
            <a:fillRect/>
          </a:stretch>
        </p:blipFill>
        <p:spPr>
          <a:xfrm>
            <a:off x="327850" y="1806800"/>
            <a:ext cx="5517673" cy="3135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460950" y="210650"/>
            <a:ext cx="8222100" cy="975900"/>
          </a:xfrm>
          <a:prstGeom prst="rect">
            <a:avLst/>
          </a:prstGeom>
        </p:spPr>
        <p:txBody>
          <a:bodyPr anchorCtr="0" anchor="b" bIns="91425" lIns="91425" spcFirstLastPara="1" rIns="91425" wrap="square" tIns="91425">
            <a:normAutofit/>
          </a:bodyPr>
          <a:lstStyle/>
          <a:p>
            <a:pPr indent="0" lvl="0" marL="0" rtl="0" algn="l">
              <a:lnSpc>
                <a:spcPct val="115000"/>
              </a:lnSpc>
              <a:spcBef>
                <a:spcPts val="1200"/>
              </a:spcBef>
              <a:spcAft>
                <a:spcPts val="1200"/>
              </a:spcAft>
              <a:buNone/>
            </a:pPr>
            <a:r>
              <a:rPr lang="en"/>
              <a:t>Where Are Restaurants Concentrated in？</a:t>
            </a:r>
            <a:endParaRPr/>
          </a:p>
        </p:txBody>
      </p:sp>
      <p:sp>
        <p:nvSpPr>
          <p:cNvPr id="207" name="Google Shape;207;p30"/>
          <p:cNvSpPr txBox="1"/>
          <p:nvPr/>
        </p:nvSpPr>
        <p:spPr>
          <a:xfrm>
            <a:off x="6032475" y="2381250"/>
            <a:ext cx="3000000" cy="168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t>Objective:</a:t>
            </a:r>
            <a:r>
              <a:rPr lang="en" sz="1300"/>
              <a:t> Identify cities with the highest number of restaurants.</a:t>
            </a:r>
            <a:endParaRPr sz="1300"/>
          </a:p>
          <a:p>
            <a:pPr indent="0" lvl="0" marL="0" rtl="0" algn="l">
              <a:lnSpc>
                <a:spcPct val="115000"/>
              </a:lnSpc>
              <a:spcBef>
                <a:spcPts val="1200"/>
              </a:spcBef>
              <a:spcAft>
                <a:spcPts val="1200"/>
              </a:spcAft>
              <a:buNone/>
            </a:pPr>
            <a:r>
              <a:rPr b="1" lang="en" sz="1300"/>
              <a:t>I</a:t>
            </a:r>
            <a:r>
              <a:rPr b="1" lang="en" sz="1300"/>
              <a:t>nsight:</a:t>
            </a:r>
            <a:r>
              <a:rPr lang="en" sz="1300"/>
              <a:t> Boston is among the top cities with the highest restaurant </a:t>
            </a:r>
            <a:r>
              <a:rPr lang="en" sz="1300"/>
              <a:t>concentration</a:t>
            </a:r>
            <a:r>
              <a:rPr lang="en" sz="1300"/>
              <a:t>(#256), indicating a mature and competitive market.</a:t>
            </a:r>
            <a:endParaRPr sz="1300"/>
          </a:p>
        </p:txBody>
      </p:sp>
      <p:pic>
        <p:nvPicPr>
          <p:cNvPr id="208" name="Google Shape;208;p30"/>
          <p:cNvPicPr preferRelativeResize="0"/>
          <p:nvPr/>
        </p:nvPicPr>
        <p:blipFill>
          <a:blip r:embed="rId3">
            <a:alphaModFix/>
          </a:blip>
          <a:stretch>
            <a:fillRect/>
          </a:stretch>
        </p:blipFill>
        <p:spPr>
          <a:xfrm>
            <a:off x="207450" y="2078225"/>
            <a:ext cx="5727673" cy="269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345000" y="444600"/>
            <a:ext cx="8454000" cy="9759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200"/>
              </a:spcBef>
              <a:spcAft>
                <a:spcPts val="1200"/>
              </a:spcAft>
              <a:buNone/>
            </a:pPr>
            <a:r>
              <a:rPr lang="en"/>
              <a:t>What Types of Restaurants Are Most Loved in Boston?</a:t>
            </a:r>
            <a:endParaRPr/>
          </a:p>
        </p:txBody>
      </p:sp>
      <p:sp>
        <p:nvSpPr>
          <p:cNvPr id="214" name="Google Shape;214;p31"/>
          <p:cNvSpPr txBox="1"/>
          <p:nvPr/>
        </p:nvSpPr>
        <p:spPr>
          <a:xfrm>
            <a:off x="6719625" y="2258175"/>
            <a:ext cx="2205900" cy="237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t>Objective:</a:t>
            </a:r>
            <a:r>
              <a:rPr lang="en" sz="1300"/>
              <a:t> Determine the most highly rated(&gt;=4 stars) restaurant categories.</a:t>
            </a:r>
            <a:endParaRPr sz="1300"/>
          </a:p>
          <a:p>
            <a:pPr indent="0" lvl="0" marL="0" rtl="0" algn="l">
              <a:lnSpc>
                <a:spcPct val="115000"/>
              </a:lnSpc>
              <a:spcBef>
                <a:spcPts val="1200"/>
              </a:spcBef>
              <a:spcAft>
                <a:spcPts val="1200"/>
              </a:spcAft>
              <a:buNone/>
            </a:pPr>
            <a:r>
              <a:rPr b="1" lang="en" sz="1300"/>
              <a:t>Insight:</a:t>
            </a:r>
            <a:r>
              <a:rPr lang="en" sz="1300"/>
              <a:t> Cuisines like Japanese, Mediterranean, and Thai are among the top-rated, reflecting consumer taste trends.</a:t>
            </a:r>
            <a:endParaRPr sz="1300"/>
          </a:p>
        </p:txBody>
      </p:sp>
      <p:pic>
        <p:nvPicPr>
          <p:cNvPr id="215" name="Google Shape;215;p31"/>
          <p:cNvPicPr preferRelativeResize="0"/>
          <p:nvPr/>
        </p:nvPicPr>
        <p:blipFill>
          <a:blip r:embed="rId3">
            <a:alphaModFix/>
          </a:blip>
          <a:stretch>
            <a:fillRect/>
          </a:stretch>
        </p:blipFill>
        <p:spPr>
          <a:xfrm>
            <a:off x="120925" y="2091975"/>
            <a:ext cx="6446274" cy="284485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345000" y="444600"/>
            <a:ext cx="8454000" cy="9759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200"/>
              </a:spcBef>
              <a:spcAft>
                <a:spcPts val="1200"/>
              </a:spcAft>
              <a:buNone/>
            </a:pPr>
            <a:r>
              <a:rPr lang="en"/>
              <a:t>Which Restaurants Inspire the Most Detailed Reviews?</a:t>
            </a:r>
            <a:endParaRPr/>
          </a:p>
        </p:txBody>
      </p:sp>
      <p:sp>
        <p:nvSpPr>
          <p:cNvPr id="221" name="Google Shape;221;p32"/>
          <p:cNvSpPr txBox="1"/>
          <p:nvPr/>
        </p:nvSpPr>
        <p:spPr>
          <a:xfrm>
            <a:off x="5063275" y="2506575"/>
            <a:ext cx="3576900" cy="168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t>Objective:</a:t>
            </a:r>
            <a:r>
              <a:rPr lang="en" sz="1300"/>
              <a:t> Find restaurants that receive long, thoughtful reviews.</a:t>
            </a:r>
            <a:endParaRPr sz="1300"/>
          </a:p>
          <a:p>
            <a:pPr indent="0" lvl="0" marL="0" rtl="0" algn="l">
              <a:lnSpc>
                <a:spcPct val="115000"/>
              </a:lnSpc>
              <a:spcBef>
                <a:spcPts val="1200"/>
              </a:spcBef>
              <a:spcAft>
                <a:spcPts val="1200"/>
              </a:spcAft>
              <a:buNone/>
            </a:pPr>
            <a:r>
              <a:rPr b="1" lang="en" sz="1300"/>
              <a:t>Insight:</a:t>
            </a:r>
            <a:r>
              <a:rPr lang="en" sz="1300"/>
              <a:t> Long reviews signal emotional engagement; these restaurants may offer memorable experiences, like Uno Pizzeria &amp; Grill.</a:t>
            </a:r>
            <a:endParaRPr sz="1300"/>
          </a:p>
        </p:txBody>
      </p:sp>
      <p:pic>
        <p:nvPicPr>
          <p:cNvPr id="222" name="Google Shape;222;p32"/>
          <p:cNvPicPr preferRelativeResize="0"/>
          <p:nvPr/>
        </p:nvPicPr>
        <p:blipFill>
          <a:blip r:embed="rId3">
            <a:alphaModFix/>
          </a:blip>
          <a:stretch>
            <a:fillRect/>
          </a:stretch>
        </p:blipFill>
        <p:spPr>
          <a:xfrm>
            <a:off x="168125" y="1879625"/>
            <a:ext cx="4758474" cy="305011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460950" y="210650"/>
            <a:ext cx="8222100" cy="975900"/>
          </a:xfrm>
          <a:prstGeom prst="rect">
            <a:avLst/>
          </a:prstGeom>
        </p:spPr>
        <p:txBody>
          <a:bodyPr anchorCtr="0" anchor="b" bIns="91425" lIns="91425" spcFirstLastPara="1" rIns="91425" wrap="square" tIns="91425">
            <a:normAutofit/>
          </a:bodyPr>
          <a:lstStyle/>
          <a:p>
            <a:pPr indent="0" lvl="0" marL="0" rtl="0" algn="l">
              <a:lnSpc>
                <a:spcPct val="115000"/>
              </a:lnSpc>
              <a:spcBef>
                <a:spcPts val="1200"/>
              </a:spcBef>
              <a:spcAft>
                <a:spcPts val="1200"/>
              </a:spcAft>
              <a:buNone/>
            </a:pPr>
            <a:r>
              <a:rPr lang="en"/>
              <a:t>Who Are the Crowd Favorites?</a:t>
            </a:r>
            <a:endParaRPr/>
          </a:p>
        </p:txBody>
      </p:sp>
      <p:sp>
        <p:nvSpPr>
          <p:cNvPr id="228" name="Google Shape;228;p33"/>
          <p:cNvSpPr txBox="1"/>
          <p:nvPr/>
        </p:nvSpPr>
        <p:spPr>
          <a:xfrm>
            <a:off x="7445525" y="1915613"/>
            <a:ext cx="1570800" cy="306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t>Objective:</a:t>
            </a:r>
            <a:r>
              <a:rPr lang="en" sz="1300"/>
              <a:t> Identify Boston restaurants with the most reviews.</a:t>
            </a:r>
            <a:endParaRPr sz="1300"/>
          </a:p>
          <a:p>
            <a:pPr indent="0" lvl="0" marL="0" rtl="0" algn="l">
              <a:lnSpc>
                <a:spcPct val="115000"/>
              </a:lnSpc>
              <a:spcBef>
                <a:spcPts val="1200"/>
              </a:spcBef>
              <a:spcAft>
                <a:spcPts val="1200"/>
              </a:spcAft>
              <a:buNone/>
            </a:pPr>
            <a:r>
              <a:rPr b="1" lang="en" sz="1300"/>
              <a:t>Insight:</a:t>
            </a:r>
            <a:r>
              <a:rPr lang="en" sz="1300"/>
              <a:t> These are the most visited and discussed places—potential leaders in the local food scene, especially the Barking Crab.</a:t>
            </a:r>
            <a:endParaRPr sz="1300"/>
          </a:p>
        </p:txBody>
      </p:sp>
      <p:pic>
        <p:nvPicPr>
          <p:cNvPr id="229" name="Google Shape;229;p33"/>
          <p:cNvPicPr preferRelativeResize="0"/>
          <p:nvPr/>
        </p:nvPicPr>
        <p:blipFill>
          <a:blip r:embed="rId3">
            <a:alphaModFix/>
          </a:blip>
          <a:stretch>
            <a:fillRect/>
          </a:stretch>
        </p:blipFill>
        <p:spPr>
          <a:xfrm>
            <a:off x="50125" y="2005875"/>
            <a:ext cx="7302501" cy="2889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402450" y="344325"/>
            <a:ext cx="8222100" cy="9759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200"/>
              </a:spcBef>
              <a:spcAft>
                <a:spcPts val="1200"/>
              </a:spcAft>
              <a:buNone/>
            </a:pPr>
            <a:r>
              <a:rPr lang="en"/>
              <a:t>Which High-Rated Restaurants Are Flying Under the Radar?</a:t>
            </a:r>
            <a:endParaRPr/>
          </a:p>
        </p:txBody>
      </p:sp>
      <p:sp>
        <p:nvSpPr>
          <p:cNvPr id="235" name="Google Shape;235;p34"/>
          <p:cNvSpPr txBox="1"/>
          <p:nvPr/>
        </p:nvSpPr>
        <p:spPr>
          <a:xfrm>
            <a:off x="6266475" y="2436650"/>
            <a:ext cx="2598600" cy="214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t>Objective:</a:t>
            </a:r>
            <a:r>
              <a:rPr lang="en" sz="1300"/>
              <a:t> Discover lesser-known restaurants with high ratings.</a:t>
            </a:r>
            <a:endParaRPr sz="1300"/>
          </a:p>
          <a:p>
            <a:pPr indent="0" lvl="0" marL="0" rtl="0" algn="l">
              <a:lnSpc>
                <a:spcPct val="115000"/>
              </a:lnSpc>
              <a:spcBef>
                <a:spcPts val="1200"/>
              </a:spcBef>
              <a:spcAft>
                <a:spcPts val="1200"/>
              </a:spcAft>
              <a:buNone/>
            </a:pPr>
            <a:r>
              <a:rPr b="1" lang="en" sz="1300"/>
              <a:t>Insight:</a:t>
            </a:r>
            <a:r>
              <a:rPr lang="en" sz="1300"/>
              <a:t> These are "hidden gems" with great potential for growth or marketing. </a:t>
            </a:r>
            <a:r>
              <a:rPr lang="en" sz="1300"/>
              <a:t>Zo Greek </a:t>
            </a:r>
            <a:r>
              <a:rPr lang="en" sz="1300"/>
              <a:t>have the high ratings(4.5) but not too much reviews(#352)</a:t>
            </a:r>
            <a:endParaRPr sz="1300"/>
          </a:p>
        </p:txBody>
      </p:sp>
      <p:pic>
        <p:nvPicPr>
          <p:cNvPr id="236" name="Google Shape;236;p34"/>
          <p:cNvPicPr preferRelativeResize="0"/>
          <p:nvPr/>
        </p:nvPicPr>
        <p:blipFill>
          <a:blip r:embed="rId3">
            <a:alphaModFix/>
          </a:blip>
          <a:stretch>
            <a:fillRect/>
          </a:stretch>
        </p:blipFill>
        <p:spPr>
          <a:xfrm>
            <a:off x="136675" y="2007425"/>
            <a:ext cx="5961677" cy="272070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type="title"/>
          </p:nvPr>
        </p:nvSpPr>
        <p:spPr>
          <a:xfrm>
            <a:off x="460950" y="210650"/>
            <a:ext cx="8222100" cy="149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Mini Project #3 Part 2</a:t>
            </a:r>
            <a:endParaRPr/>
          </a:p>
          <a:p>
            <a:pPr indent="0" lvl="0" marL="0" rtl="0" algn="l">
              <a:spcBef>
                <a:spcPts val="0"/>
              </a:spcBef>
              <a:spcAft>
                <a:spcPts val="0"/>
              </a:spcAft>
              <a:buNone/>
            </a:pPr>
            <a:r>
              <a:t/>
            </a:r>
            <a:endParaRPr/>
          </a:p>
        </p:txBody>
      </p:sp>
      <p:pic>
        <p:nvPicPr>
          <p:cNvPr id="242" name="Google Shape;242;p35" title="Screenshot 2025-05-04 at 9.35.31 PM.png"/>
          <p:cNvPicPr preferRelativeResize="0"/>
          <p:nvPr/>
        </p:nvPicPr>
        <p:blipFill>
          <a:blip r:embed="rId3">
            <a:alphaModFix/>
          </a:blip>
          <a:stretch>
            <a:fillRect/>
          </a:stretch>
        </p:blipFill>
        <p:spPr>
          <a:xfrm>
            <a:off x="358200" y="1820300"/>
            <a:ext cx="5886249" cy="3141749"/>
          </a:xfrm>
          <a:prstGeom prst="rect">
            <a:avLst/>
          </a:prstGeom>
          <a:noFill/>
          <a:ln>
            <a:noFill/>
          </a:ln>
        </p:spPr>
      </p:pic>
      <p:sp>
        <p:nvSpPr>
          <p:cNvPr id="243" name="Google Shape;243;p35"/>
          <p:cNvSpPr txBox="1"/>
          <p:nvPr/>
        </p:nvSpPr>
        <p:spPr>
          <a:xfrm>
            <a:off x="6545875" y="2076125"/>
            <a:ext cx="2216100" cy="2692200"/>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1200"/>
              </a:spcAft>
              <a:buNone/>
            </a:pPr>
            <a:r>
              <a:rPr lang="en" sz="1800">
                <a:latin typeface="Roboto"/>
                <a:ea typeface="Roboto"/>
                <a:cs typeface="Roboto"/>
                <a:sym typeface="Roboto"/>
              </a:rPr>
              <a:t>What factors contribute to higher average salaries for data analyst roles across different companies, experience and locations?</a:t>
            </a:r>
            <a:endParaRPr sz="1800">
              <a:solidFill>
                <a:schemeClr val="lt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type="title"/>
          </p:nvPr>
        </p:nvSpPr>
        <p:spPr>
          <a:xfrm>
            <a:off x="460950" y="216675"/>
            <a:ext cx="8222100" cy="1615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a:t>What companies have the highest </a:t>
            </a:r>
            <a:r>
              <a:rPr lang="en"/>
              <a:t>average</a:t>
            </a:r>
            <a:r>
              <a:rPr lang="en"/>
              <a:t> salaries for remote and non-remote positions?</a:t>
            </a:r>
            <a:endParaRPr/>
          </a:p>
          <a:p>
            <a:pPr indent="0" lvl="0" marL="0" rtl="0" algn="l">
              <a:spcBef>
                <a:spcPts val="0"/>
              </a:spcBef>
              <a:spcAft>
                <a:spcPts val="0"/>
              </a:spcAft>
              <a:buNone/>
            </a:pPr>
            <a:r>
              <a:t/>
            </a:r>
            <a:endParaRPr/>
          </a:p>
        </p:txBody>
      </p:sp>
      <p:pic>
        <p:nvPicPr>
          <p:cNvPr id="249" name="Google Shape;249;p36"/>
          <p:cNvPicPr preferRelativeResize="0"/>
          <p:nvPr/>
        </p:nvPicPr>
        <p:blipFill>
          <a:blip r:embed="rId3">
            <a:alphaModFix/>
          </a:blip>
          <a:stretch>
            <a:fillRect/>
          </a:stretch>
        </p:blipFill>
        <p:spPr>
          <a:xfrm>
            <a:off x="328225" y="1709585"/>
            <a:ext cx="2813975" cy="3056278"/>
          </a:xfrm>
          <a:prstGeom prst="rect">
            <a:avLst/>
          </a:prstGeom>
          <a:noFill/>
          <a:ln>
            <a:noFill/>
          </a:ln>
        </p:spPr>
      </p:pic>
      <p:pic>
        <p:nvPicPr>
          <p:cNvPr id="250" name="Google Shape;250;p36"/>
          <p:cNvPicPr preferRelativeResize="0"/>
          <p:nvPr/>
        </p:nvPicPr>
        <p:blipFill>
          <a:blip r:embed="rId4">
            <a:alphaModFix/>
          </a:blip>
          <a:stretch>
            <a:fillRect/>
          </a:stretch>
        </p:blipFill>
        <p:spPr>
          <a:xfrm>
            <a:off x="5806600" y="1709600"/>
            <a:ext cx="2813975" cy="3056253"/>
          </a:xfrm>
          <a:prstGeom prst="rect">
            <a:avLst/>
          </a:prstGeom>
          <a:noFill/>
          <a:ln>
            <a:noFill/>
          </a:ln>
        </p:spPr>
      </p:pic>
      <p:sp>
        <p:nvSpPr>
          <p:cNvPr id="251" name="Google Shape;251;p36"/>
          <p:cNvSpPr txBox="1"/>
          <p:nvPr/>
        </p:nvSpPr>
        <p:spPr>
          <a:xfrm>
            <a:off x="411175" y="4711575"/>
            <a:ext cx="265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Roboto"/>
                <a:ea typeface="Roboto"/>
                <a:cs typeface="Roboto"/>
                <a:sym typeface="Roboto"/>
              </a:rPr>
              <a:t>Highest Average Remote Salary</a:t>
            </a:r>
            <a:endParaRPr sz="1300">
              <a:latin typeface="Roboto"/>
              <a:ea typeface="Roboto"/>
              <a:cs typeface="Roboto"/>
              <a:sym typeface="Roboto"/>
            </a:endParaRPr>
          </a:p>
        </p:txBody>
      </p:sp>
      <p:sp>
        <p:nvSpPr>
          <p:cNvPr id="252" name="Google Shape;252;p36"/>
          <p:cNvSpPr txBox="1"/>
          <p:nvPr/>
        </p:nvSpPr>
        <p:spPr>
          <a:xfrm>
            <a:off x="6405550" y="4765875"/>
            <a:ext cx="1988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Highest Average Salary</a:t>
            </a:r>
            <a:endParaRPr sz="1200">
              <a:latin typeface="Roboto"/>
              <a:ea typeface="Roboto"/>
              <a:cs typeface="Roboto"/>
              <a:sym typeface="Roboto"/>
            </a:endParaRPr>
          </a:p>
        </p:txBody>
      </p:sp>
      <p:sp>
        <p:nvSpPr>
          <p:cNvPr id="253" name="Google Shape;253;p36"/>
          <p:cNvSpPr txBox="1"/>
          <p:nvPr/>
        </p:nvSpPr>
        <p:spPr>
          <a:xfrm>
            <a:off x="3288800" y="1831950"/>
            <a:ext cx="23712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Objective:</a:t>
            </a:r>
            <a:r>
              <a:rPr lang="en" sz="1300">
                <a:latin typeface="Roboto"/>
                <a:ea typeface="Roboto"/>
                <a:cs typeface="Roboto"/>
                <a:sym typeface="Roboto"/>
              </a:rPr>
              <a:t> To </a:t>
            </a:r>
            <a:r>
              <a:rPr lang="en" sz="1300">
                <a:latin typeface="Roboto"/>
                <a:ea typeface="Roboto"/>
                <a:cs typeface="Roboto"/>
                <a:sym typeface="Roboto"/>
              </a:rPr>
              <a:t>analyze</a:t>
            </a:r>
            <a:r>
              <a:rPr lang="en" sz="1300">
                <a:latin typeface="Roboto"/>
                <a:ea typeface="Roboto"/>
                <a:cs typeface="Roboto"/>
                <a:sym typeface="Roboto"/>
              </a:rPr>
              <a:t> and compare companies offering the highest average </a:t>
            </a:r>
            <a:r>
              <a:rPr lang="en" sz="1300">
                <a:latin typeface="Roboto"/>
                <a:ea typeface="Roboto"/>
                <a:cs typeface="Roboto"/>
                <a:sym typeface="Roboto"/>
              </a:rPr>
              <a:t>salaries</a:t>
            </a:r>
            <a:r>
              <a:rPr lang="en" sz="1300">
                <a:latin typeface="Roboto"/>
                <a:ea typeface="Roboto"/>
                <a:cs typeface="Roboto"/>
                <a:sym typeface="Roboto"/>
              </a:rPr>
              <a:t> for data </a:t>
            </a:r>
            <a:r>
              <a:rPr lang="en" sz="1300">
                <a:latin typeface="Roboto"/>
                <a:ea typeface="Roboto"/>
                <a:cs typeface="Roboto"/>
                <a:sym typeface="Roboto"/>
              </a:rPr>
              <a:t>analysts</a:t>
            </a:r>
            <a:r>
              <a:rPr lang="en" sz="1300">
                <a:latin typeface="Roboto"/>
                <a:ea typeface="Roboto"/>
                <a:cs typeface="Roboto"/>
                <a:sym typeface="Roboto"/>
              </a:rPr>
              <a:t> in both remote and overall. </a:t>
            </a:r>
            <a:endParaRPr sz="1300">
              <a:latin typeface="Roboto"/>
              <a:ea typeface="Roboto"/>
              <a:cs typeface="Roboto"/>
              <a:sym typeface="Roboto"/>
            </a:endParaRPr>
          </a:p>
        </p:txBody>
      </p:sp>
      <p:sp>
        <p:nvSpPr>
          <p:cNvPr id="254" name="Google Shape;254;p36"/>
          <p:cNvSpPr txBox="1"/>
          <p:nvPr/>
        </p:nvSpPr>
        <p:spPr>
          <a:xfrm>
            <a:off x="3307750" y="3243350"/>
            <a:ext cx="21786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Insight: </a:t>
            </a:r>
            <a:r>
              <a:rPr lang="en" sz="1300">
                <a:latin typeface="Roboto"/>
                <a:ea typeface="Roboto"/>
                <a:cs typeface="Roboto"/>
                <a:sym typeface="Roboto"/>
              </a:rPr>
              <a:t>Companies offering remote </a:t>
            </a:r>
            <a:r>
              <a:rPr lang="en" sz="1300">
                <a:latin typeface="Roboto"/>
                <a:ea typeface="Roboto"/>
                <a:cs typeface="Roboto"/>
                <a:sym typeface="Roboto"/>
              </a:rPr>
              <a:t>salaries</a:t>
            </a:r>
            <a:r>
              <a:rPr lang="en" sz="1300">
                <a:latin typeface="Roboto"/>
                <a:ea typeface="Roboto"/>
                <a:cs typeface="Roboto"/>
                <a:sym typeface="Roboto"/>
              </a:rPr>
              <a:t> change from the companies offering the highest overall </a:t>
            </a:r>
            <a:r>
              <a:rPr lang="en" sz="1300">
                <a:latin typeface="Roboto"/>
                <a:ea typeface="Roboto"/>
                <a:cs typeface="Roboto"/>
                <a:sym typeface="Roboto"/>
              </a:rPr>
              <a:t>salaries.  </a:t>
            </a:r>
            <a:endParaRPr sz="1300">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7"/>
          <p:cNvSpPr txBox="1"/>
          <p:nvPr>
            <p:ph type="title"/>
          </p:nvPr>
        </p:nvSpPr>
        <p:spPr>
          <a:xfrm>
            <a:off x="471900" y="172050"/>
            <a:ext cx="8222100" cy="1334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a:t>Average Salary By Location </a:t>
            </a:r>
            <a:endParaRPr/>
          </a:p>
          <a:p>
            <a:pPr indent="0" lvl="0" marL="0" rtl="0" algn="l">
              <a:spcBef>
                <a:spcPts val="0"/>
              </a:spcBef>
              <a:spcAft>
                <a:spcPts val="0"/>
              </a:spcAft>
              <a:buNone/>
            </a:pPr>
            <a:r>
              <a:t/>
            </a:r>
            <a:endParaRPr/>
          </a:p>
        </p:txBody>
      </p:sp>
      <p:pic>
        <p:nvPicPr>
          <p:cNvPr id="260" name="Google Shape;260;p37"/>
          <p:cNvPicPr preferRelativeResize="0"/>
          <p:nvPr/>
        </p:nvPicPr>
        <p:blipFill>
          <a:blip r:embed="rId3">
            <a:alphaModFix/>
          </a:blip>
          <a:stretch>
            <a:fillRect/>
          </a:stretch>
        </p:blipFill>
        <p:spPr>
          <a:xfrm>
            <a:off x="178425" y="1740800"/>
            <a:ext cx="3068650" cy="3332874"/>
          </a:xfrm>
          <a:prstGeom prst="rect">
            <a:avLst/>
          </a:prstGeom>
          <a:noFill/>
          <a:ln>
            <a:noFill/>
          </a:ln>
        </p:spPr>
      </p:pic>
      <p:sp>
        <p:nvSpPr>
          <p:cNvPr id="261" name="Google Shape;261;p37"/>
          <p:cNvSpPr txBox="1"/>
          <p:nvPr/>
        </p:nvSpPr>
        <p:spPr>
          <a:xfrm>
            <a:off x="3315600" y="1822500"/>
            <a:ext cx="5378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Roboto"/>
                <a:ea typeface="Roboto"/>
                <a:cs typeface="Roboto"/>
                <a:sym typeface="Roboto"/>
              </a:rPr>
              <a:t>Objective:</a:t>
            </a:r>
            <a:r>
              <a:rPr lang="en" sz="1800">
                <a:latin typeface="Roboto"/>
                <a:ea typeface="Roboto"/>
                <a:cs typeface="Roboto"/>
                <a:sym typeface="Roboto"/>
              </a:rPr>
              <a:t> To visualize how average data analyst salaries vary across different U.S. cities helping identify geographic trends and outliers in compensation.</a:t>
            </a:r>
            <a:endParaRPr sz="1800">
              <a:latin typeface="Roboto"/>
              <a:ea typeface="Roboto"/>
              <a:cs typeface="Roboto"/>
              <a:sym typeface="Roboto"/>
            </a:endParaRPr>
          </a:p>
        </p:txBody>
      </p:sp>
      <p:sp>
        <p:nvSpPr>
          <p:cNvPr id="262" name="Google Shape;262;p37"/>
          <p:cNvSpPr txBox="1"/>
          <p:nvPr/>
        </p:nvSpPr>
        <p:spPr>
          <a:xfrm>
            <a:off x="3315600" y="3357000"/>
            <a:ext cx="5456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Roboto"/>
                <a:ea typeface="Roboto"/>
                <a:cs typeface="Roboto"/>
                <a:sym typeface="Roboto"/>
              </a:rPr>
              <a:t>Insight: </a:t>
            </a:r>
            <a:r>
              <a:rPr lang="en" sz="1800">
                <a:latin typeface="Roboto"/>
                <a:ea typeface="Roboto"/>
                <a:cs typeface="Roboto"/>
                <a:sym typeface="Roboto"/>
              </a:rPr>
              <a:t>Geographic trends can help job seekers target higher-paying markets based on where salaries tend to be higher.</a:t>
            </a:r>
            <a:endParaRPr sz="18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type="title"/>
          </p:nvPr>
        </p:nvSpPr>
        <p:spPr>
          <a:xfrm>
            <a:off x="471900" y="172050"/>
            <a:ext cx="8222100" cy="1334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a:t>Average Salary by </a:t>
            </a:r>
            <a:r>
              <a:rPr lang="en"/>
              <a:t>Experience</a:t>
            </a:r>
            <a:r>
              <a:rPr lang="en"/>
              <a:t> Level and Skills </a:t>
            </a:r>
            <a:endParaRPr/>
          </a:p>
          <a:p>
            <a:pPr indent="0" lvl="0" marL="0" rtl="0" algn="l">
              <a:spcBef>
                <a:spcPts val="0"/>
              </a:spcBef>
              <a:spcAft>
                <a:spcPts val="0"/>
              </a:spcAft>
              <a:buNone/>
            </a:pPr>
            <a:r>
              <a:t/>
            </a:r>
            <a:endParaRPr/>
          </a:p>
        </p:txBody>
      </p:sp>
      <p:sp>
        <p:nvSpPr>
          <p:cNvPr id="268" name="Google Shape;268;p3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9" name="Google Shape;269;p38"/>
          <p:cNvPicPr preferRelativeResize="0"/>
          <p:nvPr/>
        </p:nvPicPr>
        <p:blipFill>
          <a:blip r:embed="rId3">
            <a:alphaModFix/>
          </a:blip>
          <a:stretch>
            <a:fillRect/>
          </a:stretch>
        </p:blipFill>
        <p:spPr>
          <a:xfrm>
            <a:off x="184875" y="1734494"/>
            <a:ext cx="3036200" cy="3297631"/>
          </a:xfrm>
          <a:prstGeom prst="rect">
            <a:avLst/>
          </a:prstGeom>
          <a:noFill/>
          <a:ln>
            <a:noFill/>
          </a:ln>
        </p:spPr>
      </p:pic>
      <p:pic>
        <p:nvPicPr>
          <p:cNvPr id="270" name="Google Shape;270;p38"/>
          <p:cNvPicPr preferRelativeResize="0"/>
          <p:nvPr/>
        </p:nvPicPr>
        <p:blipFill>
          <a:blip r:embed="rId4">
            <a:alphaModFix/>
          </a:blip>
          <a:stretch>
            <a:fillRect/>
          </a:stretch>
        </p:blipFill>
        <p:spPr>
          <a:xfrm>
            <a:off x="5311505" y="1788195"/>
            <a:ext cx="3634795" cy="1443050"/>
          </a:xfrm>
          <a:prstGeom prst="rect">
            <a:avLst/>
          </a:prstGeom>
          <a:noFill/>
          <a:ln>
            <a:noFill/>
          </a:ln>
        </p:spPr>
      </p:pic>
      <p:sp>
        <p:nvSpPr>
          <p:cNvPr id="271" name="Google Shape;271;p38"/>
          <p:cNvSpPr txBox="1"/>
          <p:nvPr/>
        </p:nvSpPr>
        <p:spPr>
          <a:xfrm>
            <a:off x="3402475" y="1917200"/>
            <a:ext cx="1847100" cy="214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latin typeface="Roboto"/>
                <a:ea typeface="Roboto"/>
                <a:cs typeface="Roboto"/>
                <a:sym typeface="Roboto"/>
              </a:rPr>
              <a:t>Objective:</a:t>
            </a:r>
            <a:r>
              <a:rPr lang="en" sz="1300">
                <a:latin typeface="Roboto"/>
                <a:ea typeface="Roboto"/>
                <a:cs typeface="Roboto"/>
                <a:sym typeface="Roboto"/>
              </a:rPr>
              <a:t> To show how salary varies across experience levels and show which technical skills pay the most in the data analytics job market.</a:t>
            </a:r>
            <a:endParaRPr sz="1300">
              <a:latin typeface="Roboto"/>
              <a:ea typeface="Roboto"/>
              <a:cs typeface="Roboto"/>
              <a:sym typeface="Roboto"/>
            </a:endParaRPr>
          </a:p>
          <a:p>
            <a:pPr indent="0" lvl="0" marL="0" rtl="0" algn="l">
              <a:spcBef>
                <a:spcPts val="1200"/>
              </a:spcBef>
              <a:spcAft>
                <a:spcPts val="0"/>
              </a:spcAft>
              <a:buNone/>
            </a:pPr>
            <a:r>
              <a:t/>
            </a:r>
            <a:endParaRPr sz="1300">
              <a:solidFill>
                <a:schemeClr val="lt2"/>
              </a:solidFill>
              <a:latin typeface="Roboto"/>
              <a:ea typeface="Roboto"/>
              <a:cs typeface="Roboto"/>
              <a:sym typeface="Roboto"/>
            </a:endParaRPr>
          </a:p>
        </p:txBody>
      </p:sp>
      <p:sp>
        <p:nvSpPr>
          <p:cNvPr id="272" name="Google Shape;272;p38"/>
          <p:cNvSpPr txBox="1"/>
          <p:nvPr/>
        </p:nvSpPr>
        <p:spPr>
          <a:xfrm>
            <a:off x="4722350" y="3593825"/>
            <a:ext cx="43743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Roboto"/>
                <a:ea typeface="Roboto"/>
                <a:cs typeface="Roboto"/>
                <a:sym typeface="Roboto"/>
              </a:rPr>
              <a:t>Insight: </a:t>
            </a:r>
            <a:r>
              <a:rPr lang="en" sz="1300">
                <a:latin typeface="Roboto"/>
                <a:ea typeface="Roboto"/>
                <a:cs typeface="Roboto"/>
                <a:sym typeface="Roboto"/>
              </a:rPr>
              <a:t>The skills table reveals that Python and SQL are linked to significantly higher average salaries, while tools like Excel and Tableau command lower averages.</a:t>
            </a:r>
            <a:r>
              <a:rPr lang="en" sz="1300"/>
              <a:t> While the box plot shows that senior-level roles offer the highest median salaries and have the widest salary range.</a:t>
            </a:r>
            <a:endParaRPr sz="1300">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471900" y="742725"/>
            <a:ext cx="8222100" cy="766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Team Reflection and </a:t>
            </a:r>
            <a:r>
              <a:rPr lang="en"/>
              <a:t>Takeaways</a:t>
            </a:r>
            <a:endParaRPr/>
          </a:p>
        </p:txBody>
      </p:sp>
      <p:sp>
        <p:nvSpPr>
          <p:cNvPr id="278" name="Google Shape;278;p39"/>
          <p:cNvSpPr txBox="1"/>
          <p:nvPr>
            <p:ph idx="1" type="body"/>
          </p:nvPr>
        </p:nvSpPr>
        <p:spPr>
          <a:xfrm>
            <a:off x="471900" y="1921861"/>
            <a:ext cx="8222100" cy="2707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a:t>Abdullah</a:t>
            </a:r>
            <a:r>
              <a:rPr lang="en"/>
              <a:t>: One of the more challenging aspects for me was handling large volumes of data and converting semi-structured formats into a usable structure. The most rewarding part, however, was being able to extract meaningful business insights from it.</a:t>
            </a:r>
            <a:endParaRPr/>
          </a:p>
          <a:p>
            <a:pPr indent="0" lvl="0" marL="0" rtl="0" algn="l">
              <a:spcBef>
                <a:spcPts val="1200"/>
              </a:spcBef>
              <a:spcAft>
                <a:spcPts val="0"/>
              </a:spcAft>
              <a:buNone/>
            </a:pPr>
            <a:r>
              <a:rPr b="1" lang="en"/>
              <a:t>Amelia</a:t>
            </a:r>
            <a:r>
              <a:rPr lang="en"/>
              <a:t>: One of the most challenging parts was making sure that each query, workflow and visualization was driven by clear intent and aligned with a specific analytical purpose.</a:t>
            </a:r>
            <a:endParaRPr/>
          </a:p>
          <a:p>
            <a:pPr indent="0" lvl="0" marL="0" rtl="0" algn="l">
              <a:spcBef>
                <a:spcPts val="1200"/>
              </a:spcBef>
              <a:spcAft>
                <a:spcPts val="0"/>
              </a:spcAft>
              <a:buNone/>
            </a:pPr>
            <a:r>
              <a:rPr b="1" lang="en"/>
              <a:t>Wade</a:t>
            </a:r>
            <a:r>
              <a:rPr lang="en"/>
              <a:t>: One of the most challenging parts on the projects was learning how to properly clean and manipulate messy or inconsistent data. The most rewarding part was once the data was cleaned and </a:t>
            </a:r>
            <a:r>
              <a:rPr lang="en"/>
              <a:t>structured</a:t>
            </a:r>
            <a:r>
              <a:rPr lang="en"/>
              <a:t> was getting to see the clear visual insights from them. </a:t>
            </a:r>
            <a:endParaRPr/>
          </a:p>
          <a:p>
            <a:pPr indent="0" lvl="0" marL="0" rtl="0" algn="l">
              <a:spcBef>
                <a:spcPts val="1200"/>
              </a:spcBef>
              <a:spcAft>
                <a:spcPts val="1200"/>
              </a:spcAft>
              <a:buNone/>
            </a:pPr>
            <a:r>
              <a:rPr b="1" lang="en"/>
              <a:t>Yujing</a:t>
            </a:r>
            <a:r>
              <a:rPr lang="en"/>
              <a:t>: </a:t>
            </a:r>
            <a:r>
              <a:rPr lang="en"/>
              <a:t>One of the most challenging parts was ensuring the clean,consistent logic when writing complex SQL queries (especially the CTEs and CASE statements). One of the rewarding parts was seeing how raw data can be transformed into business insights.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